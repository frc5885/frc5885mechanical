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8" r:id="rId1"/>
  </p:sldMasterIdLst>
  <p:notesMasterIdLst>
    <p:notesMasterId r:id="rId20"/>
  </p:notesMasterIdLst>
  <p:handoutMasterIdLst>
    <p:handoutMasterId r:id="rId21"/>
  </p:handoutMasterIdLst>
  <p:sldIdLst>
    <p:sldId id="876" r:id="rId2"/>
    <p:sldId id="879" r:id="rId3"/>
    <p:sldId id="880" r:id="rId4"/>
    <p:sldId id="881" r:id="rId5"/>
    <p:sldId id="882" r:id="rId6"/>
    <p:sldId id="883" r:id="rId7"/>
    <p:sldId id="885" r:id="rId8"/>
    <p:sldId id="886" r:id="rId9"/>
    <p:sldId id="884" r:id="rId10"/>
    <p:sldId id="887" r:id="rId11"/>
    <p:sldId id="891" r:id="rId12"/>
    <p:sldId id="892" r:id="rId13"/>
    <p:sldId id="888" r:id="rId14"/>
    <p:sldId id="889" r:id="rId15"/>
    <p:sldId id="890" r:id="rId16"/>
    <p:sldId id="893" r:id="rId17"/>
    <p:sldId id="895" r:id="rId18"/>
    <p:sldId id="877" r:id="rId19"/>
  </p:sldIdLst>
  <p:sldSz cx="11379200" cy="6400800"/>
  <p:notesSz cx="7010400" cy="9296400"/>
  <p:custDataLst>
    <p:tags r:id="rId2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1pPr>
    <a:lvl2pPr marL="457171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2pPr>
    <a:lvl3pPr marL="914341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3pPr>
    <a:lvl4pPr marL="1371512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4pPr>
    <a:lvl5pPr marL="1828682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5pPr>
    <a:lvl6pPr marL="2285854" algn="l" defTabSz="914341" rtl="0" eaLnBrk="1" latinLnBrk="0" hangingPunct="1"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6pPr>
    <a:lvl7pPr marL="2743025" algn="l" defTabSz="914341" rtl="0" eaLnBrk="1" latinLnBrk="0" hangingPunct="1"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7pPr>
    <a:lvl8pPr marL="3200195" algn="l" defTabSz="914341" rtl="0" eaLnBrk="1" latinLnBrk="0" hangingPunct="1"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8pPr>
    <a:lvl9pPr marL="3657366" algn="l" defTabSz="914341" rtl="0" eaLnBrk="1" latinLnBrk="0" hangingPunct="1"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Titling &amp; Info" id="{1E5C464F-12D7-41DC-BF52-B2CC10C126E9}">
          <p14:sldIdLst>
            <p14:sldId id="876"/>
            <p14:sldId id="879"/>
          </p14:sldIdLst>
        </p14:section>
        <p14:section name="About GitHub" id="{30516947-8F65-42C2-8994-CCF39F9EB0D4}">
          <p14:sldIdLst>
            <p14:sldId id="880"/>
            <p14:sldId id="881"/>
            <p14:sldId id="882"/>
          </p14:sldIdLst>
        </p14:section>
        <p14:section name="Getting Started" id="{D00B0E02-764C-4AA2-9302-F55E5E523FC5}">
          <p14:sldIdLst>
            <p14:sldId id="883"/>
            <p14:sldId id="885"/>
            <p14:sldId id="886"/>
            <p14:sldId id="884"/>
          </p14:sldIdLst>
        </p14:section>
        <p14:section name="GitHub Info and Usage" id="{9EFF87C5-C6D4-461D-AF5F-1465928411F0}">
          <p14:sldIdLst>
            <p14:sldId id="887"/>
            <p14:sldId id="891"/>
            <p14:sldId id="892"/>
            <p14:sldId id="888"/>
            <p14:sldId id="889"/>
            <p14:sldId id="890"/>
            <p14:sldId id="893"/>
            <p14:sldId id="895"/>
          </p14:sldIdLst>
        </p14:section>
        <p14:section name="End Credits" id="{CF635C46-FBC7-4254-B019-05B7B9F544F6}">
          <p14:sldIdLst>
            <p14:sldId id="8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6" userDrawn="1">
          <p15:clr>
            <a:srgbClr val="A4A3A4"/>
          </p15:clr>
        </p15:guide>
        <p15:guide id="2" pos="35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A0"/>
    <a:srgbClr val="0053A1"/>
    <a:srgbClr val="28AEE6"/>
    <a:srgbClr val="996600"/>
    <a:srgbClr val="FF9900"/>
    <a:srgbClr val="003399"/>
    <a:srgbClr val="66CCFF"/>
    <a:srgbClr val="CC6600"/>
    <a:srgbClr val="008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230" autoAdjust="0"/>
  </p:normalViewPr>
  <p:slideViewPr>
    <p:cSldViewPr snapToGrid="0">
      <p:cViewPr varScale="1">
        <p:scale>
          <a:sx n="101" d="100"/>
          <a:sy n="101" d="100"/>
        </p:scale>
        <p:origin x="1248" y="96"/>
      </p:cViewPr>
      <p:guideLst>
        <p:guide orient="horz" pos="2016"/>
        <p:guide pos="3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6" d="100"/>
        <a:sy n="5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-2837" y="-8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hibert" userId="c181b6691ce37e04" providerId="LiveId" clId="{AC97CBC9-05DE-4C7C-B33D-E1F0F9240703}"/>
    <pc:docChg chg="modSld">
      <pc:chgData name="John Thibert" userId="c181b6691ce37e04" providerId="LiveId" clId="{AC97CBC9-05DE-4C7C-B33D-E1F0F9240703}" dt="2025-05-01T22:09:10.444" v="88" actId="20577"/>
      <pc:docMkLst>
        <pc:docMk/>
      </pc:docMkLst>
      <pc:sldChg chg="modSp mod">
        <pc:chgData name="John Thibert" userId="c181b6691ce37e04" providerId="LiveId" clId="{AC97CBC9-05DE-4C7C-B33D-E1F0F9240703}" dt="2025-05-01T22:09:10.444" v="88" actId="20577"/>
        <pc:sldMkLst>
          <pc:docMk/>
          <pc:sldMk cId="2924040741" sldId="877"/>
        </pc:sldMkLst>
        <pc:spChg chg="mod">
          <ac:chgData name="John Thibert" userId="c181b6691ce37e04" providerId="LiveId" clId="{AC97CBC9-05DE-4C7C-B33D-E1F0F9240703}" dt="2025-05-01T22:09:10.444" v="88" actId="20577"/>
          <ac:spMkLst>
            <pc:docMk/>
            <pc:sldMk cId="2924040741" sldId="877"/>
            <ac:spMk id="4" creationId="{1B934BFD-7116-44EF-B08A-4CC70F77305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>
            <a:lvl1pPr algn="l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3514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>
            <a:lvl1pPr algn="r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b" anchorCtr="0" compatLnSpc="1">
            <a:prstTxWarp prst="textNoShape">
              <a:avLst/>
            </a:prstTxWarp>
          </a:bodyPr>
          <a:lstStyle>
            <a:lvl1pPr algn="l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3514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b" anchorCtr="0" compatLnSpc="1">
            <a:prstTxWarp prst="textNoShape">
              <a:avLst/>
            </a:prstTxWarp>
          </a:bodyPr>
          <a:lstStyle>
            <a:lvl1pPr algn="r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ED99B309-0AE6-4F35-9D5D-359E6E3BB6D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4591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>
            <a:lvl1pPr algn="l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4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>
            <a:lvl1pPr algn="r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8500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4838"/>
            <a:ext cx="5143500" cy="418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b" anchorCtr="0" compatLnSpc="1">
            <a:prstTxWarp prst="textNoShape">
              <a:avLst/>
            </a:prstTxWarp>
          </a:bodyPr>
          <a:lstStyle>
            <a:lvl1pPr algn="l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4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b" anchorCtr="0" compatLnSpc="1">
            <a:prstTxWarp prst="textNoShape">
              <a:avLst/>
            </a:prstTxWarp>
          </a:bodyPr>
          <a:lstStyle>
            <a:lvl1pPr algn="r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197ADA7B-1FF5-4B6F-897C-36F65255E7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2530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171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341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512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682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854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25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95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F33F30-39A3-40D7-94F9-D13323F3CB8D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7600" cy="348615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1840-C81D-4680-9146-9D0DC6B83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2400" y="1047540"/>
            <a:ext cx="8534400" cy="2228427"/>
          </a:xfrm>
        </p:spPr>
        <p:txBody>
          <a:bodyPr anchor="b"/>
          <a:lstStyle>
            <a:lvl1pPr algn="ctr">
              <a:defRPr sz="4950">
                <a:solidFill>
                  <a:srgbClr val="0053A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C5001-9753-4536-9D4F-07417677A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00" y="3361902"/>
            <a:ext cx="8534400" cy="1545378"/>
          </a:xfrm>
        </p:spPr>
        <p:txBody>
          <a:bodyPr/>
          <a:lstStyle>
            <a:lvl1pPr marL="0" indent="0" algn="ctr">
              <a:buNone/>
              <a:defRPr sz="1980">
                <a:solidFill>
                  <a:srgbClr val="0053A1"/>
                </a:solidFill>
              </a:defRPr>
            </a:lvl1pPr>
            <a:lvl2pPr marL="377181" indent="0" algn="ctr">
              <a:buNone/>
              <a:defRPr sz="1650"/>
            </a:lvl2pPr>
            <a:lvl3pPr marL="754361" indent="0" algn="ctr">
              <a:buNone/>
              <a:defRPr sz="1485"/>
            </a:lvl3pPr>
            <a:lvl4pPr marL="1131542" indent="0" algn="ctr">
              <a:buNone/>
              <a:defRPr sz="1320"/>
            </a:lvl4pPr>
            <a:lvl5pPr marL="1508722" indent="0" algn="ctr">
              <a:buNone/>
              <a:defRPr sz="1320"/>
            </a:lvl5pPr>
            <a:lvl6pPr marL="1885903" indent="0" algn="ctr">
              <a:buNone/>
              <a:defRPr sz="1320"/>
            </a:lvl6pPr>
            <a:lvl7pPr marL="2263083" indent="0" algn="ctr">
              <a:buNone/>
              <a:defRPr sz="1320"/>
            </a:lvl7pPr>
            <a:lvl8pPr marL="2640264" indent="0" algn="ctr">
              <a:buNone/>
              <a:defRPr sz="1320"/>
            </a:lvl8pPr>
            <a:lvl9pPr marL="3017445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440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1840-C81D-4680-9146-9D0DC6B83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2400" y="1047540"/>
            <a:ext cx="8534400" cy="222842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C5001-9753-4536-9D4F-07417677A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00" y="3361902"/>
            <a:ext cx="8534400" cy="1545378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81" indent="0" algn="ctr">
              <a:buNone/>
              <a:defRPr sz="1650"/>
            </a:lvl2pPr>
            <a:lvl3pPr marL="754361" indent="0" algn="ctr">
              <a:buNone/>
              <a:defRPr sz="1485"/>
            </a:lvl3pPr>
            <a:lvl4pPr marL="1131542" indent="0" algn="ctr">
              <a:buNone/>
              <a:defRPr sz="1320"/>
            </a:lvl4pPr>
            <a:lvl5pPr marL="1508722" indent="0" algn="ctr">
              <a:buNone/>
              <a:defRPr sz="1320"/>
            </a:lvl5pPr>
            <a:lvl6pPr marL="1885903" indent="0" algn="ctr">
              <a:buNone/>
              <a:defRPr sz="1320"/>
            </a:lvl6pPr>
            <a:lvl7pPr marL="2263083" indent="0" algn="ctr">
              <a:buNone/>
              <a:defRPr sz="1320"/>
            </a:lvl7pPr>
            <a:lvl8pPr marL="2640264" indent="0" algn="ctr">
              <a:buNone/>
              <a:defRPr sz="1320"/>
            </a:lvl8pPr>
            <a:lvl9pPr marL="3017445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Slide Number Placeholder 26">
            <a:extLst>
              <a:ext uri="{FF2B5EF4-FFF2-40B4-BE49-F238E27FC236}">
                <a16:creationId xmlns:a16="http://schemas.microsoft.com/office/drawing/2014/main" id="{490BFD5B-562D-42E7-A2D2-5A0797FE3E85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1100" smtClean="0">
                <a:solidFill>
                  <a:schemeClr val="bg1"/>
                </a:solidFill>
              </a:rPr>
              <a:pPr/>
              <a:t>‹#›</a:t>
            </a:fld>
            <a:endParaRPr lang="en-US" sz="99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157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7589F-3474-4F64-986C-3E6A333B0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AA06F-3EAB-4608-8F88-AB077C25E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26">
            <a:extLst>
              <a:ext uri="{FF2B5EF4-FFF2-40B4-BE49-F238E27FC236}">
                <a16:creationId xmlns:a16="http://schemas.microsoft.com/office/drawing/2014/main" id="{4BFEB779-D7ED-4BA3-A8AB-633BC16A8EBD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308208430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BA24F-EC2F-4E41-B3DF-54560126B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394" y="1595760"/>
            <a:ext cx="9814560" cy="2662555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0BEC9-29C0-4D4C-A134-35765EFF9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6394" y="4283504"/>
            <a:ext cx="9814560" cy="1400175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1pPr>
            <a:lvl2pPr marL="377181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61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42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22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03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083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264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445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26">
            <a:extLst>
              <a:ext uri="{FF2B5EF4-FFF2-40B4-BE49-F238E27FC236}">
                <a16:creationId xmlns:a16="http://schemas.microsoft.com/office/drawing/2014/main" id="{305126C3-F091-4437-8D18-CB4ECDD19A55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339053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B7D89-217B-4557-BD4C-7F4158024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1A1AD-0DA2-4442-B32D-89DDE62D9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2320" y="1703917"/>
            <a:ext cx="483616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05774-2A01-4341-9970-4C3EC8B21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0" y="1703917"/>
            <a:ext cx="483616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26">
            <a:extLst>
              <a:ext uri="{FF2B5EF4-FFF2-40B4-BE49-F238E27FC236}">
                <a16:creationId xmlns:a16="http://schemas.microsoft.com/office/drawing/2014/main" id="{A43D5641-23D2-409D-80DC-780634E0DEF1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3731484671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901A3-2712-4F03-B05B-9CCBFE29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802" y="340788"/>
            <a:ext cx="9814560" cy="12371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BD641-9E7D-4009-80D1-91E6F61BC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3803" y="1569086"/>
            <a:ext cx="4813934" cy="768985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81" indent="0">
              <a:buNone/>
              <a:defRPr sz="1650" b="1"/>
            </a:lvl2pPr>
            <a:lvl3pPr marL="754361" indent="0">
              <a:buNone/>
              <a:defRPr sz="1485" b="1"/>
            </a:lvl3pPr>
            <a:lvl4pPr marL="1131542" indent="0">
              <a:buNone/>
              <a:defRPr sz="1320" b="1"/>
            </a:lvl4pPr>
            <a:lvl5pPr marL="1508722" indent="0">
              <a:buNone/>
              <a:defRPr sz="1320" b="1"/>
            </a:lvl5pPr>
            <a:lvl6pPr marL="1885903" indent="0">
              <a:buNone/>
              <a:defRPr sz="1320" b="1"/>
            </a:lvl6pPr>
            <a:lvl7pPr marL="2263083" indent="0">
              <a:buNone/>
              <a:defRPr sz="1320" b="1"/>
            </a:lvl7pPr>
            <a:lvl8pPr marL="2640264" indent="0">
              <a:buNone/>
              <a:defRPr sz="1320" b="1"/>
            </a:lvl8pPr>
            <a:lvl9pPr marL="3017445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D4FCC-7E21-4719-8BA3-D7FF12E59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3803" y="2338071"/>
            <a:ext cx="4813934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841F15-9A62-4B1F-AA02-FADC72D08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60722" y="1569086"/>
            <a:ext cx="4837642" cy="768985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81" indent="0">
              <a:buNone/>
              <a:defRPr sz="1650" b="1"/>
            </a:lvl2pPr>
            <a:lvl3pPr marL="754361" indent="0">
              <a:buNone/>
              <a:defRPr sz="1485" b="1"/>
            </a:lvl3pPr>
            <a:lvl4pPr marL="1131542" indent="0">
              <a:buNone/>
              <a:defRPr sz="1320" b="1"/>
            </a:lvl4pPr>
            <a:lvl5pPr marL="1508722" indent="0">
              <a:buNone/>
              <a:defRPr sz="1320" b="1"/>
            </a:lvl5pPr>
            <a:lvl6pPr marL="1885903" indent="0">
              <a:buNone/>
              <a:defRPr sz="1320" b="1"/>
            </a:lvl6pPr>
            <a:lvl7pPr marL="2263083" indent="0">
              <a:buNone/>
              <a:defRPr sz="1320" b="1"/>
            </a:lvl7pPr>
            <a:lvl8pPr marL="2640264" indent="0">
              <a:buNone/>
              <a:defRPr sz="1320" b="1"/>
            </a:lvl8pPr>
            <a:lvl9pPr marL="3017445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BCF54-2505-4A03-BE42-54721CE6A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2" y="2338071"/>
            <a:ext cx="4837642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26">
            <a:extLst>
              <a:ext uri="{FF2B5EF4-FFF2-40B4-BE49-F238E27FC236}">
                <a16:creationId xmlns:a16="http://schemas.microsoft.com/office/drawing/2014/main" id="{7010E937-EDB9-4938-A44F-7DCD20450E57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3985666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E3946-5E0E-4347-A112-1A7A7AEF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26">
            <a:extLst>
              <a:ext uri="{FF2B5EF4-FFF2-40B4-BE49-F238E27FC236}">
                <a16:creationId xmlns:a16="http://schemas.microsoft.com/office/drawing/2014/main" id="{6373C33E-BD07-4878-B8A0-41FDEC897DD6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2233483712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6">
            <a:extLst>
              <a:ext uri="{FF2B5EF4-FFF2-40B4-BE49-F238E27FC236}">
                <a16:creationId xmlns:a16="http://schemas.microsoft.com/office/drawing/2014/main" id="{FA0488B4-2D32-4252-BB99-B10E02271A0C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119639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C5EF-FA54-410D-8C02-72885276C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802" y="426720"/>
            <a:ext cx="3670088" cy="149352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A4829-4C47-4564-A5A8-F701F4005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7643" y="921602"/>
            <a:ext cx="5760720" cy="4548717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0BB24-94BE-43EF-808F-C48372168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3802" y="1920240"/>
            <a:ext cx="3670088" cy="3557482"/>
          </a:xfrm>
        </p:spPr>
        <p:txBody>
          <a:bodyPr/>
          <a:lstStyle>
            <a:lvl1pPr marL="0" indent="0">
              <a:buNone/>
              <a:defRPr sz="1320"/>
            </a:lvl1pPr>
            <a:lvl2pPr marL="377181" indent="0">
              <a:buNone/>
              <a:defRPr sz="1155"/>
            </a:lvl2pPr>
            <a:lvl3pPr marL="754361" indent="0">
              <a:buNone/>
              <a:defRPr sz="990"/>
            </a:lvl3pPr>
            <a:lvl4pPr marL="1131542" indent="0">
              <a:buNone/>
              <a:defRPr sz="825"/>
            </a:lvl4pPr>
            <a:lvl5pPr marL="1508722" indent="0">
              <a:buNone/>
              <a:defRPr sz="825"/>
            </a:lvl5pPr>
            <a:lvl6pPr marL="1885903" indent="0">
              <a:buNone/>
              <a:defRPr sz="825"/>
            </a:lvl6pPr>
            <a:lvl7pPr marL="2263083" indent="0">
              <a:buNone/>
              <a:defRPr sz="825"/>
            </a:lvl7pPr>
            <a:lvl8pPr marL="2640264" indent="0">
              <a:buNone/>
              <a:defRPr sz="825"/>
            </a:lvl8pPr>
            <a:lvl9pPr marL="3017445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26">
            <a:extLst>
              <a:ext uri="{FF2B5EF4-FFF2-40B4-BE49-F238E27FC236}">
                <a16:creationId xmlns:a16="http://schemas.microsoft.com/office/drawing/2014/main" id="{D2E63488-A39D-466A-81D7-896CF01D56B5}"/>
              </a:ext>
            </a:extLst>
          </p:cNvPr>
          <p:cNvSpPr txBox="1">
            <a:spLocks/>
          </p:cNvSpPr>
          <p:nvPr/>
        </p:nvSpPr>
        <p:spPr>
          <a:xfrm>
            <a:off x="10739718" y="6001465"/>
            <a:ext cx="340030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227439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D8C1-8FF5-4804-9974-8F51B2F70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802" y="426720"/>
            <a:ext cx="3670088" cy="149352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E03584-B852-4FA2-ABD7-C6084F3BC5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37643" y="921602"/>
            <a:ext cx="5760720" cy="4548717"/>
          </a:xfrm>
        </p:spPr>
        <p:txBody>
          <a:bodyPr/>
          <a:lstStyle>
            <a:lvl1pPr marL="0" indent="0">
              <a:buNone/>
              <a:defRPr sz="2640"/>
            </a:lvl1pPr>
            <a:lvl2pPr marL="377181" indent="0">
              <a:buNone/>
              <a:defRPr sz="2310"/>
            </a:lvl2pPr>
            <a:lvl3pPr marL="754361" indent="0">
              <a:buNone/>
              <a:defRPr sz="1980"/>
            </a:lvl3pPr>
            <a:lvl4pPr marL="1131542" indent="0">
              <a:buNone/>
              <a:defRPr sz="1650"/>
            </a:lvl4pPr>
            <a:lvl5pPr marL="1508722" indent="0">
              <a:buNone/>
              <a:defRPr sz="1650"/>
            </a:lvl5pPr>
            <a:lvl6pPr marL="1885903" indent="0">
              <a:buNone/>
              <a:defRPr sz="1650"/>
            </a:lvl6pPr>
            <a:lvl7pPr marL="2263083" indent="0">
              <a:buNone/>
              <a:defRPr sz="1650"/>
            </a:lvl7pPr>
            <a:lvl8pPr marL="2640264" indent="0">
              <a:buNone/>
              <a:defRPr sz="1650"/>
            </a:lvl8pPr>
            <a:lvl9pPr marL="3017445" indent="0">
              <a:buNone/>
              <a:defRPr sz="165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F95C4-14ED-40E7-8246-EB8AFC8AF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3802" y="1920240"/>
            <a:ext cx="3670088" cy="3557482"/>
          </a:xfrm>
        </p:spPr>
        <p:txBody>
          <a:bodyPr/>
          <a:lstStyle>
            <a:lvl1pPr marL="0" indent="0">
              <a:buNone/>
              <a:defRPr sz="1320"/>
            </a:lvl1pPr>
            <a:lvl2pPr marL="377181" indent="0">
              <a:buNone/>
              <a:defRPr sz="1155"/>
            </a:lvl2pPr>
            <a:lvl3pPr marL="754361" indent="0">
              <a:buNone/>
              <a:defRPr sz="990"/>
            </a:lvl3pPr>
            <a:lvl4pPr marL="1131542" indent="0">
              <a:buNone/>
              <a:defRPr sz="825"/>
            </a:lvl4pPr>
            <a:lvl5pPr marL="1508722" indent="0">
              <a:buNone/>
              <a:defRPr sz="825"/>
            </a:lvl5pPr>
            <a:lvl6pPr marL="1885903" indent="0">
              <a:buNone/>
              <a:defRPr sz="825"/>
            </a:lvl6pPr>
            <a:lvl7pPr marL="2263083" indent="0">
              <a:buNone/>
              <a:defRPr sz="825"/>
            </a:lvl7pPr>
            <a:lvl8pPr marL="2640264" indent="0">
              <a:buNone/>
              <a:defRPr sz="825"/>
            </a:lvl8pPr>
            <a:lvl9pPr marL="3017445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26">
            <a:extLst>
              <a:ext uri="{FF2B5EF4-FFF2-40B4-BE49-F238E27FC236}">
                <a16:creationId xmlns:a16="http://schemas.microsoft.com/office/drawing/2014/main" id="{643997CD-1108-4B6E-B763-5C864CBE360F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2925075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0D644-4341-4AD3-8F69-99796D5BE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1C00A-D25D-439F-AA78-32A042093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26">
            <a:extLst>
              <a:ext uri="{FF2B5EF4-FFF2-40B4-BE49-F238E27FC236}">
                <a16:creationId xmlns:a16="http://schemas.microsoft.com/office/drawing/2014/main" id="{71B9B8B9-C6F7-4B9C-8725-3A69B9C05952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3896606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D327FB-0BB8-47AF-9166-4BD64B0DCB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143242" y="756825"/>
            <a:ext cx="2259066" cy="50083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8510B8-B789-467F-A098-ABDCA2774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82323" y="756825"/>
            <a:ext cx="6646237" cy="50083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26">
            <a:extLst>
              <a:ext uri="{FF2B5EF4-FFF2-40B4-BE49-F238E27FC236}">
                <a16:creationId xmlns:a16="http://schemas.microsoft.com/office/drawing/2014/main" id="{33BD4347-57C1-4525-B113-C999184D536C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1712924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709225" y="132345"/>
            <a:ext cx="10241280" cy="106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68960" y="1493521"/>
            <a:ext cx="5025813" cy="20402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784427" y="1493521"/>
            <a:ext cx="5025813" cy="20402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68960" y="3676020"/>
            <a:ext cx="5025813" cy="20417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84427" y="3676020"/>
            <a:ext cx="5025813" cy="20417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206"/>
          <p:cNvSpPr>
            <a:spLocks noGrp="1"/>
          </p:cNvSpPr>
          <p:nvPr>
            <p:ph type="sldNum" sz="quarter" idx="10"/>
          </p:nvPr>
        </p:nvSpPr>
        <p:spPr>
          <a:xfrm>
            <a:off x="10739232" y="5640629"/>
            <a:ext cx="494832" cy="313764"/>
          </a:xfrm>
          <a:prstGeom prst="rect">
            <a:avLst/>
          </a:prstGeom>
        </p:spPr>
        <p:txBody>
          <a:bodyPr/>
          <a:lstStyle>
            <a:lvl1pPr algn="ctr" eaLnBrk="0" hangingPunct="0">
              <a:spcBef>
                <a:spcPct val="50000"/>
              </a:spcBef>
              <a:buSzPct val="80000"/>
              <a:defRPr sz="1100">
                <a:solidFill>
                  <a:srgbClr val="9966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buFontTx/>
              <a:buNone/>
              <a:defRPr/>
            </a:pPr>
            <a:fld id="{A573B02F-A7D4-422F-9184-87A161E5AADE}" type="slidenum">
              <a:rPr lang="en-CA" smtClean="0"/>
              <a:pPr>
                <a:buFontTx/>
                <a:buNone/>
                <a:defRPr/>
              </a:pPr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53242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9532E96-38A6-0F91-17EA-69FEF1B62B40}"/>
              </a:ext>
            </a:extLst>
          </p:cNvPr>
          <p:cNvSpPr/>
          <p:nvPr userDrawn="1"/>
        </p:nvSpPr>
        <p:spPr>
          <a:xfrm>
            <a:off x="0" y="5850794"/>
            <a:ext cx="11379200" cy="552090"/>
          </a:xfrm>
          <a:prstGeom prst="rect">
            <a:avLst/>
          </a:prstGeom>
          <a:solidFill>
            <a:srgbClr val="28AE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53EBE6-7F71-4D01-9F59-0696BA5B2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320" y="799718"/>
            <a:ext cx="9814560" cy="77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90C7B-6592-4FE6-A46A-D8371794D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320" y="1703917"/>
            <a:ext cx="981456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D0C937-2C0F-4C37-9DF2-7BB7FEE8969D}"/>
              </a:ext>
            </a:extLst>
          </p:cNvPr>
          <p:cNvSpPr txBox="1"/>
          <p:nvPr/>
        </p:nvSpPr>
        <p:spPr>
          <a:xfrm>
            <a:off x="8481064" y="231141"/>
            <a:ext cx="2655041" cy="320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85" dirty="0">
                <a:solidFill>
                  <a:srgbClr val="0053A1"/>
                </a:solidFill>
              </a:rPr>
              <a:t>www.wiredcats5885.ca</a:t>
            </a:r>
          </a:p>
        </p:txBody>
      </p:sp>
      <p:sp>
        <p:nvSpPr>
          <p:cNvPr id="5" name="Footer Placeholder 4" descr="CenterLine reflex blue, copper logo">
            <a:extLst>
              <a:ext uri="{FF2B5EF4-FFF2-40B4-BE49-F238E27FC236}">
                <a16:creationId xmlns:a16="http://schemas.microsoft.com/office/drawing/2014/main" id="{4D19885A-D491-937B-CAE9-56C3D63B503F}"/>
              </a:ext>
            </a:extLst>
          </p:cNvPr>
          <p:cNvSpPr txBox="1">
            <a:spLocks/>
          </p:cNvSpPr>
          <p:nvPr userDrawn="1"/>
        </p:nvSpPr>
        <p:spPr>
          <a:xfrm>
            <a:off x="94890" y="5961345"/>
            <a:ext cx="3820419" cy="33098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chemeClr val="bg1"/>
                </a:solidFill>
              </a:rPr>
              <a:t>© 2025, Villanova WiredCats Robotics Team, FRC 5885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30F7094-CFF3-2692-FBDB-A647888659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639"/>
            <a:ext cx="970712" cy="75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55391E-479E-1518-04AF-E7387F89FD9B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harpenSoften amount="28000"/>
                    </a14:imgEffect>
                    <a14:imgEffect>
                      <a14:brightnessContrast bright="-12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232" y="5877047"/>
            <a:ext cx="1592791" cy="499584"/>
          </a:xfrm>
          <a:prstGeom prst="rect">
            <a:avLst/>
          </a:prstGeom>
        </p:spPr>
      </p:pic>
      <p:sp>
        <p:nvSpPr>
          <p:cNvPr id="12" name="Footer Placeholder 4" descr="CenterLine reflex blue, copper logo">
            <a:extLst>
              <a:ext uri="{FF2B5EF4-FFF2-40B4-BE49-F238E27FC236}">
                <a16:creationId xmlns:a16="http://schemas.microsoft.com/office/drawing/2014/main" id="{0234CF35-E6F1-EA50-8C89-4A6DFF872FE9}"/>
              </a:ext>
            </a:extLst>
          </p:cNvPr>
          <p:cNvSpPr txBox="1">
            <a:spLocks/>
          </p:cNvSpPr>
          <p:nvPr userDrawn="1"/>
        </p:nvSpPr>
        <p:spPr>
          <a:xfrm>
            <a:off x="4149478" y="5951476"/>
            <a:ext cx="1233577" cy="33098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chemeClr val="bg1"/>
                </a:solidFill>
              </a:rPr>
              <a:t>Sponsored</a:t>
            </a:r>
            <a:r>
              <a:rPr lang="en-US" sz="1000" dirty="0">
                <a:solidFill>
                  <a:schemeClr val="bg1"/>
                </a:solidFill>
              </a:rPr>
              <a:t> by: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E8D2CE-12E7-35B4-B662-172CEBF6F8B8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contras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76377" y="5917440"/>
            <a:ext cx="1959155" cy="4995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8AA90A2-9209-EA23-9AE9-3D7C3F207800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alphaModFix/>
          </a:blip>
          <a:srcRect t="12475" b="10471"/>
          <a:stretch/>
        </p:blipFill>
        <p:spPr>
          <a:xfrm>
            <a:off x="8935532" y="5917440"/>
            <a:ext cx="1364405" cy="39906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65457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52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  <p:sldLayoutId id="2147483851" r:id="rId13"/>
  </p:sldLayoutIdLst>
  <p:transition spd="med">
    <p:fade/>
  </p:transition>
  <p:hf hdr="0" ftr="0"/>
  <p:txStyles>
    <p:titleStyle>
      <a:lvl1pPr algn="l" defTabSz="754361" rtl="0" eaLnBrk="1" latinLnBrk="0" hangingPunct="1">
        <a:lnSpc>
          <a:spcPct val="90000"/>
        </a:lnSpc>
        <a:spcBef>
          <a:spcPct val="0"/>
        </a:spcBef>
        <a:buNone/>
        <a:defRPr sz="2640" b="1" kern="1200">
          <a:solidFill>
            <a:srgbClr val="0053A1"/>
          </a:solidFill>
          <a:latin typeface="+mj-lt"/>
          <a:ea typeface="+mj-ea"/>
          <a:cs typeface="+mj-cs"/>
        </a:defRPr>
      </a:lvl1pPr>
    </p:titleStyle>
    <p:bodyStyle>
      <a:lvl1pPr marL="188590" indent="-188590" algn="l" defTabSz="754361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rgbClr val="0053A1"/>
          </a:solidFill>
          <a:latin typeface="+mn-lt"/>
          <a:ea typeface="+mn-ea"/>
          <a:cs typeface="+mn-cs"/>
        </a:defRPr>
      </a:lvl1pPr>
      <a:lvl2pPr marL="565771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rgbClr val="0053A1"/>
          </a:solidFill>
          <a:latin typeface="+mn-lt"/>
          <a:ea typeface="+mn-ea"/>
          <a:cs typeface="+mn-cs"/>
        </a:defRPr>
      </a:lvl2pPr>
      <a:lvl3pPr marL="942951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rgbClr val="0053A1"/>
          </a:solidFill>
          <a:latin typeface="+mn-lt"/>
          <a:ea typeface="+mn-ea"/>
          <a:cs typeface="+mn-cs"/>
        </a:defRPr>
      </a:lvl3pPr>
      <a:lvl4pPr marL="1320132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rgbClr val="0053A1"/>
          </a:solidFill>
          <a:latin typeface="+mn-lt"/>
          <a:ea typeface="+mn-ea"/>
          <a:cs typeface="+mn-cs"/>
        </a:defRPr>
      </a:lvl4pPr>
      <a:lvl5pPr marL="1697313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rgbClr val="0053A1"/>
          </a:solidFill>
          <a:latin typeface="+mn-lt"/>
          <a:ea typeface="+mn-ea"/>
          <a:cs typeface="+mn-cs"/>
        </a:defRPr>
      </a:lvl5pPr>
      <a:lvl6pPr marL="2074493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674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854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035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81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61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42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22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083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264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445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github.com/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rc5885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1E46E208-7AED-4BAD-87F5-1EEBFF348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006651"/>
            <a:ext cx="11379200" cy="841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76" tIns="50938" rIns="101876" bIns="50938">
            <a:spAutoFit/>
          </a:bodyPr>
          <a:lstStyle/>
          <a:p>
            <a:pPr algn="ctr" eaLnBrk="0" hangingPunct="0">
              <a:spcBef>
                <a:spcPct val="20000"/>
              </a:spcBef>
              <a:buSzPct val="80000"/>
            </a:pPr>
            <a:r>
              <a:rPr lang="en-US" sz="48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Getting Started with GitHub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B2E937-F17D-2AE4-870B-2ADD995E2F91}"/>
              </a:ext>
            </a:extLst>
          </p:cNvPr>
          <p:cNvSpPr txBox="1"/>
          <p:nvPr/>
        </p:nvSpPr>
        <p:spPr>
          <a:xfrm>
            <a:off x="3940172" y="4367734"/>
            <a:ext cx="3498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53A0"/>
                </a:solidFill>
              </a:rPr>
              <a:t>Authored By: John Thibert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59366A-C29D-AFB5-9CDF-D0C42CF3D288}"/>
              </a:ext>
            </a:extLst>
          </p:cNvPr>
          <p:cNvSpPr txBox="1"/>
          <p:nvPr/>
        </p:nvSpPr>
        <p:spPr>
          <a:xfrm>
            <a:off x="3573299" y="4770648"/>
            <a:ext cx="4232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53A0"/>
                </a:solidFill>
              </a:rPr>
              <a:t>Latest Revision: 05/01/2025</a:t>
            </a:r>
          </a:p>
        </p:txBody>
      </p:sp>
    </p:spTree>
    <p:extLst>
      <p:ext uri="{BB962C8B-B14F-4D97-AF65-F5344CB8AC3E}">
        <p14:creationId xmlns:p14="http://schemas.microsoft.com/office/powerpoint/2010/main" val="3838688369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79FB77-6B73-CFBE-9A78-D0C59A21B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36200"/>
              </p:ext>
            </p:extLst>
          </p:nvPr>
        </p:nvGraphicFramePr>
        <p:xfrm>
          <a:off x="1389591" y="975360"/>
          <a:ext cx="8600018" cy="4457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034">
                  <a:extLst>
                    <a:ext uri="{9D8B030D-6E8A-4147-A177-3AD203B41FA5}">
                      <a16:colId xmlns:a16="http://schemas.microsoft.com/office/drawing/2014/main" val="40924205"/>
                    </a:ext>
                  </a:extLst>
                </a:gridCol>
                <a:gridCol w="6512984">
                  <a:extLst>
                    <a:ext uri="{9D8B030D-6E8A-4147-A177-3AD203B41FA5}">
                      <a16:colId xmlns:a16="http://schemas.microsoft.com/office/drawing/2014/main" val="158316565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Revision Table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790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Date 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(MM/DD/YYYY)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212332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r>
                        <a:rPr lang="en-US" dirty="0"/>
                        <a:t>05/01/2025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Release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54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157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09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694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50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974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744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982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299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899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431590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6259A9-ED2F-BD00-FC85-13AF72301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GitHub?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F0DDA9-EF28-B0D4-D3E7-3D002D8B9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0" y="1703917"/>
            <a:ext cx="9814560" cy="3534833"/>
          </a:xfrm>
        </p:spPr>
        <p:txBody>
          <a:bodyPr>
            <a:normAutofit/>
          </a:bodyPr>
          <a:lstStyle/>
          <a:p>
            <a:r>
              <a:rPr lang="en-US" dirty="0"/>
              <a:t>A collaborative platform for software development and project management</a:t>
            </a:r>
          </a:p>
          <a:p>
            <a:r>
              <a:rPr lang="en-US" dirty="0"/>
              <a:t>Hosts repositories (repos) to store, track, and share project files and code</a:t>
            </a:r>
          </a:p>
          <a:p>
            <a:r>
              <a:rPr lang="en-US" dirty="0"/>
              <a:t>Cloud based storage for all file types</a:t>
            </a:r>
          </a:p>
          <a:p>
            <a:r>
              <a:rPr lang="en-US" dirty="0"/>
              <a:t>Based on the “Git” system</a:t>
            </a:r>
          </a:p>
        </p:txBody>
      </p:sp>
    </p:spTree>
    <p:extLst>
      <p:ext uri="{BB962C8B-B14F-4D97-AF65-F5344CB8AC3E}">
        <p14:creationId xmlns:p14="http://schemas.microsoft.com/office/powerpoint/2010/main" val="1943187830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1A7EA-FC9F-EC47-5551-9E4445A5F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F455CE-F7FE-FDF9-429E-6547F7C61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purpose of GitHub?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8D82E1-3068-1257-65E0-21A55E977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0" y="1703917"/>
            <a:ext cx="9814560" cy="3534833"/>
          </a:xfrm>
        </p:spPr>
        <p:txBody>
          <a:bodyPr>
            <a:normAutofit/>
          </a:bodyPr>
          <a:lstStyle/>
          <a:p>
            <a:r>
              <a:rPr lang="en-US" u="sng" dirty="0"/>
              <a:t>Version control:</a:t>
            </a:r>
            <a:r>
              <a:rPr lang="en-US" dirty="0"/>
              <a:t> Tracks changes and allows rollback to earlier versions</a:t>
            </a:r>
          </a:p>
          <a:p>
            <a:r>
              <a:rPr lang="en-US" u="sng" dirty="0"/>
              <a:t>Collaboration:</a:t>
            </a:r>
            <a:r>
              <a:rPr lang="en-US" dirty="0"/>
              <a:t> Enables multiple people to work together on projects simultaneously</a:t>
            </a:r>
          </a:p>
          <a:p>
            <a:r>
              <a:rPr lang="en-US" u="sng" dirty="0"/>
              <a:t>Task management:</a:t>
            </a:r>
            <a:r>
              <a:rPr lang="en-US" dirty="0"/>
              <a:t> Organizes project tasks using built-in project boards</a:t>
            </a:r>
          </a:p>
          <a:p>
            <a:r>
              <a:rPr lang="en-US" u="sng" dirty="0"/>
              <a:t>Documentation:</a:t>
            </a:r>
            <a:r>
              <a:rPr lang="en-US" dirty="0"/>
              <a:t> Maintain sustainability and knowledge transfer by showing the paths and details of the design/programming process</a:t>
            </a:r>
            <a:endParaRPr lang="en-US" u="sng" dirty="0"/>
          </a:p>
          <a:p>
            <a:r>
              <a:rPr lang="en-US" u="sng" dirty="0"/>
              <a:t>File Storage:</a:t>
            </a:r>
            <a:r>
              <a:rPr lang="en-US" dirty="0"/>
              <a:t> Allows us to store files on the cloud for use in future years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754829512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67860-5EFA-9319-4C4F-052C8EAE8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26993B-55F0-860E-941B-261B9B233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important? What do we use it for?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6D1549-665D-E00A-9B63-95F4C9E70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0" y="1703917"/>
            <a:ext cx="9814560" cy="353483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Programming: </a:t>
            </a:r>
          </a:p>
          <a:p>
            <a:pPr lvl="1"/>
            <a:r>
              <a:rPr lang="en-US" dirty="0"/>
              <a:t>Stores the code for the robot</a:t>
            </a:r>
          </a:p>
          <a:p>
            <a:pPr lvl="1"/>
            <a:r>
              <a:rPr lang="en-US" dirty="0"/>
              <a:t>Allows people to work on stuff at the same time</a:t>
            </a:r>
          </a:p>
          <a:p>
            <a:pPr lvl="1"/>
            <a:r>
              <a:rPr lang="en-US" dirty="0"/>
              <a:t>Make modifications or test functionalities while maintaining the previous versions</a:t>
            </a:r>
          </a:p>
          <a:p>
            <a:pPr lvl="1"/>
            <a:r>
              <a:rPr lang="en-US" dirty="0"/>
              <a:t>Organizes changes and notifies people of what has changed and where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Mechanical:</a:t>
            </a:r>
          </a:p>
          <a:p>
            <a:pPr lvl="1"/>
            <a:r>
              <a:rPr lang="en-US" dirty="0"/>
              <a:t>Stores robot CAD files</a:t>
            </a:r>
          </a:p>
          <a:p>
            <a:pPr lvl="1"/>
            <a:r>
              <a:rPr lang="en-US" dirty="0"/>
              <a:t>Allows everyone to have access to the latest CAD</a:t>
            </a:r>
          </a:p>
          <a:p>
            <a:pPr lvl="1"/>
            <a:r>
              <a:rPr lang="en-US" dirty="0"/>
              <a:t>Allows people to make changes and concepts to be reviewed before executing on the main robot</a:t>
            </a:r>
          </a:p>
          <a:p>
            <a:pPr lvl="1"/>
            <a:r>
              <a:rPr lang="en-US" dirty="0"/>
              <a:t>Organizes tasks and issues associated with various subsystems</a:t>
            </a:r>
          </a:p>
          <a:p>
            <a:pPr lvl="1"/>
            <a:r>
              <a:rPr lang="en-US" dirty="0"/>
              <a:t>Documents our design process for later use (judges and awards)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869512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BF4A1-03F5-0298-77EB-29767C196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5D88DE-2983-A8B0-C720-FDA340E1C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</a:t>
            </a:r>
            <a:r>
              <a:rPr lang="en-US" dirty="0">
                <a:hlinkClick r:id="rId2"/>
              </a:rPr>
              <a:t>GitHub</a:t>
            </a:r>
            <a:r>
              <a:rPr lang="en-US" dirty="0"/>
              <a:t> account: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1FF87C6-16F4-2120-D6A9-E0EA4AA595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3465" y="1577981"/>
            <a:ext cx="8488421" cy="4062412"/>
          </a:xfr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D2A1D98A-9BF1-C539-A596-D61514D06BEC}"/>
              </a:ext>
            </a:extLst>
          </p:cNvPr>
          <p:cNvSpPr/>
          <p:nvPr/>
        </p:nvSpPr>
        <p:spPr>
          <a:xfrm>
            <a:off x="3381374" y="3609187"/>
            <a:ext cx="3057525" cy="7151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BC0C0A-D19E-BE14-A881-C1AE131ED67A}"/>
              </a:ext>
            </a:extLst>
          </p:cNvPr>
          <p:cNvSpPr txBox="1"/>
          <p:nvPr/>
        </p:nvSpPr>
        <p:spPr>
          <a:xfrm>
            <a:off x="2324894" y="4659206"/>
            <a:ext cx="672941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0053A0"/>
                </a:solidFill>
              </a:rPr>
              <a:t>Use an appropriate name for your profile, having your GitHub public to show what you’ve worked on is a fantastic resume for employers!!</a:t>
            </a:r>
          </a:p>
        </p:txBody>
      </p:sp>
    </p:spTree>
    <p:extLst>
      <p:ext uri="{BB962C8B-B14F-4D97-AF65-F5344CB8AC3E}">
        <p14:creationId xmlns:p14="http://schemas.microsoft.com/office/powerpoint/2010/main" val="1337320562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3975D-BC2B-D986-5B6D-76FE6FAD3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82AE13-49BD-1BC1-4B29-BFF2D9643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GitHub account: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7DA4C46-55E0-6CF3-2633-379C349275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2320" y="1577981"/>
            <a:ext cx="9813925" cy="3693802"/>
          </a:xfr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CDE6F6F-CACC-0005-229A-915566239A0C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3810000" y="2540910"/>
            <a:ext cx="828675" cy="117384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72D9410-A883-9EA8-655A-3910079AD83E}"/>
              </a:ext>
            </a:extLst>
          </p:cNvPr>
          <p:cNvSpPr txBox="1"/>
          <p:nvPr/>
        </p:nvSpPr>
        <p:spPr>
          <a:xfrm>
            <a:off x="4638675" y="2356244"/>
            <a:ext cx="24574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0053A0"/>
                </a:solidFill>
              </a:rPr>
              <a:t>Put your real name here</a:t>
            </a:r>
          </a:p>
        </p:txBody>
      </p:sp>
    </p:spTree>
    <p:extLst>
      <p:ext uri="{BB962C8B-B14F-4D97-AF65-F5344CB8AC3E}">
        <p14:creationId xmlns:p14="http://schemas.microsoft.com/office/powerpoint/2010/main" val="3097234001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7932B-E09A-72B8-76B9-A92221263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D5CA0E-018F-DE06-8B6D-9A56F2AD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GitHub account: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425FB-C8DB-07D4-C1A1-753540673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you have created an account, contact a mentor to invite you to the FRC5885 GitHub page:</a:t>
            </a:r>
          </a:p>
          <a:p>
            <a:pPr marL="0" indent="0" algn="ctr">
              <a:buNone/>
            </a:pPr>
            <a:r>
              <a:rPr lang="en-US" dirty="0">
                <a:hlinkClick r:id="rId2"/>
              </a:rPr>
              <a:t>https://github.com/frc5885</a:t>
            </a:r>
            <a:endParaRPr lang="en-US" dirty="0"/>
          </a:p>
          <a:p>
            <a:r>
              <a:rPr lang="en-US" dirty="0"/>
              <a:t>This will allow you to make changes and view archived and private repositories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400698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843ED-CA48-C39B-711F-54800F41A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4BBD47-5975-F693-B3C5-CECF33A0A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FRC5885 homepage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5F6BB1E-FEA6-8DD0-044F-BFA9AE5A8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3465" y="1577981"/>
            <a:ext cx="8488421" cy="4062412"/>
          </a:xfr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CCF6F37-2601-850F-8139-132F47805C7B}"/>
              </a:ext>
            </a:extLst>
          </p:cNvPr>
          <p:cNvSpPr/>
          <p:nvPr/>
        </p:nvSpPr>
        <p:spPr>
          <a:xfrm>
            <a:off x="1933575" y="1895475"/>
            <a:ext cx="1676400" cy="276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10480E-8D7D-7250-61DC-C0552B49A054}"/>
              </a:ext>
            </a:extLst>
          </p:cNvPr>
          <p:cNvSpPr txBox="1"/>
          <p:nvPr/>
        </p:nvSpPr>
        <p:spPr>
          <a:xfrm>
            <a:off x="6229348" y="2288781"/>
            <a:ext cx="4857751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0053A0"/>
                </a:solidFill>
              </a:rPr>
              <a:t>Repo’s and projects can be found under these tabs of the FRC5885 homepage. Projects will be the most frequently accessed.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56A921-74B1-329D-B070-BF81DCECA731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3609975" y="2171700"/>
            <a:ext cx="2619373" cy="5787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665476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54F69-4C5E-19AC-550C-B071885D4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1D15D8-3FF4-FA49-8489-892AE59F9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GitHub - Repositories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9D28A7E-8D49-49C1-1D91-5796EA19D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8893" y="1703388"/>
            <a:ext cx="8421415" cy="4062412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01A7A3-5DCB-315A-BA87-A9C8B59EABA1}"/>
              </a:ext>
            </a:extLst>
          </p:cNvPr>
          <p:cNvSpPr txBox="1"/>
          <p:nvPr/>
        </p:nvSpPr>
        <p:spPr>
          <a:xfrm>
            <a:off x="5962649" y="1208649"/>
            <a:ext cx="381000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rgbClr val="0053A0"/>
                </a:solidFill>
              </a:rPr>
              <a:t>Poseidon mechanical repository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A0BF73C-942D-2DD0-D744-2B23B5E80D81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3533775" y="1393315"/>
            <a:ext cx="2428874" cy="5158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1723530-9009-5A01-8789-D6352BA8A3C5}"/>
              </a:ext>
            </a:extLst>
          </p:cNvPr>
          <p:cNvSpPr txBox="1"/>
          <p:nvPr/>
        </p:nvSpPr>
        <p:spPr>
          <a:xfrm>
            <a:off x="257174" y="3415785"/>
            <a:ext cx="142875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rgbClr val="0053A0"/>
                </a:solidFill>
              </a:rPr>
              <a:t>CAD Files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4E15789-F3FC-17B7-64F9-0D4918266DAB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685925" y="3600451"/>
            <a:ext cx="542925" cy="7320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3E2FF36-CE29-7AD0-6DE4-ADAD38056C4D}"/>
              </a:ext>
            </a:extLst>
          </p:cNvPr>
          <p:cNvSpPr txBox="1"/>
          <p:nvPr/>
        </p:nvSpPr>
        <p:spPr>
          <a:xfrm>
            <a:off x="257174" y="2425000"/>
            <a:ext cx="142875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rgbClr val="0053A0"/>
                </a:solidFill>
              </a:rPr>
              <a:t>Branch selection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31D7E21-FE8A-DE2F-A427-1FF3332CA3B1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1685925" y="2748166"/>
            <a:ext cx="504825" cy="2955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0E5BDAB-1A18-E4DB-DC69-47413B6CDBC7}"/>
              </a:ext>
            </a:extLst>
          </p:cNvPr>
          <p:cNvSpPr txBox="1"/>
          <p:nvPr/>
        </p:nvSpPr>
        <p:spPr>
          <a:xfrm>
            <a:off x="4554866" y="2563500"/>
            <a:ext cx="242887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rgbClr val="0053A0"/>
                </a:solidFill>
              </a:rPr>
              <a:t>Issues/tasks related to this repo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840656D-3A8C-6C72-7629-1F59215B18D1}"/>
              </a:ext>
            </a:extLst>
          </p:cNvPr>
          <p:cNvCxnSpPr>
            <a:cxnSpLocks/>
          </p:cNvCxnSpPr>
          <p:nvPr/>
        </p:nvCxnSpPr>
        <p:spPr>
          <a:xfrm flipH="1" flipV="1">
            <a:off x="2590800" y="2257425"/>
            <a:ext cx="1964066" cy="3238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502161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D60C3-52EB-A6AE-CB4F-41063F6AE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44C329-FD3F-1B21-1555-7EF36644F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GitHub - Commits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59E68E-3C5E-99CE-B4EA-F17A3053F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0" y="1703917"/>
            <a:ext cx="3884930" cy="4061249"/>
          </a:xfrm>
        </p:spPr>
        <p:txBody>
          <a:bodyPr/>
          <a:lstStyle/>
          <a:p>
            <a:r>
              <a:rPr lang="en-US" dirty="0"/>
              <a:t>Commits are “check-ins”</a:t>
            </a:r>
          </a:p>
          <a:p>
            <a:r>
              <a:rPr lang="en-US" dirty="0"/>
              <a:t>When you are working on a branch of code and want to save it to the repository (saving progress, completed a task, fixed an issue, added a feature) you use a commit to save that progress.</a:t>
            </a:r>
          </a:p>
          <a:p>
            <a:r>
              <a:rPr lang="en-US" dirty="0"/>
              <a:t>Captures your work at that time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E1AC54-B9CE-39A8-9700-ED219A639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0679" y="1933771"/>
            <a:ext cx="6101051" cy="316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246664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C41C1-261E-B91A-EF4F-23E4D058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E752F0-7D54-7A0E-89E7-D77991E41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GitHub - Pushes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A1D278-68E9-A7FB-CEC9-61D7D1978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0" y="1703917"/>
            <a:ext cx="4065906" cy="4061249"/>
          </a:xfrm>
        </p:spPr>
        <p:txBody>
          <a:bodyPr/>
          <a:lstStyle/>
          <a:p>
            <a:r>
              <a:rPr lang="en-US" dirty="0"/>
              <a:t>Whenever a commit is made, that change is solely local.</a:t>
            </a:r>
          </a:p>
          <a:p>
            <a:r>
              <a:rPr lang="en-US" dirty="0"/>
              <a:t>When you want to upload that commit to GitHub, you do so with a “push”.</a:t>
            </a:r>
          </a:p>
          <a:p>
            <a:r>
              <a:rPr lang="en-US" dirty="0"/>
              <a:t>Pushes upload all your “stashed” commits to the branch you are working 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14AC45-7EF5-1983-9329-1C6D95E5F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492" y="1454155"/>
            <a:ext cx="5945719" cy="40612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27126A-6DF0-00AC-2E49-E583EBD035CB}"/>
              </a:ext>
            </a:extLst>
          </p:cNvPr>
          <p:cNvSpPr txBox="1"/>
          <p:nvPr/>
        </p:nvSpPr>
        <p:spPr>
          <a:xfrm>
            <a:off x="5132492" y="5486397"/>
            <a:ext cx="6097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Shown above is the “GitHub Desktop” application interface – more on this later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9CBF8-0271-465B-37E4-367961C16925}"/>
              </a:ext>
            </a:extLst>
          </p:cNvPr>
          <p:cNvSpPr txBox="1"/>
          <p:nvPr/>
        </p:nvSpPr>
        <p:spPr>
          <a:xfrm>
            <a:off x="5438774" y="312468"/>
            <a:ext cx="142875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rgbClr val="0053A0"/>
                </a:solidFill>
              </a:rPr>
              <a:t>Repository selection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87350E7-8E18-F092-BFFA-10907452A7A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5981700" y="958799"/>
            <a:ext cx="171450" cy="7451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F5DBB6B-2014-49B1-33A5-194EF8C50D92}"/>
              </a:ext>
            </a:extLst>
          </p:cNvPr>
          <p:cNvSpPr txBox="1"/>
          <p:nvPr/>
        </p:nvSpPr>
        <p:spPr>
          <a:xfrm>
            <a:off x="7186929" y="312468"/>
            <a:ext cx="142875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rgbClr val="0053A0"/>
                </a:solidFill>
              </a:rPr>
              <a:t>Branch selection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6B87D1-64F5-EA11-E096-B1CFF7669459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7901305" y="958799"/>
            <a:ext cx="309245" cy="6191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EC83447-FA0A-AE4E-FF65-442F5E454623}"/>
              </a:ext>
            </a:extLst>
          </p:cNvPr>
          <p:cNvSpPr txBox="1"/>
          <p:nvPr/>
        </p:nvSpPr>
        <p:spPr>
          <a:xfrm>
            <a:off x="5438774" y="2948825"/>
            <a:ext cx="229108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rgbClr val="0053A0"/>
                </a:solidFill>
              </a:rPr>
              <a:t>Changes to files will show up here</a:t>
            </a:r>
          </a:p>
        </p:txBody>
      </p:sp>
    </p:spTree>
    <p:extLst>
      <p:ext uri="{BB962C8B-B14F-4D97-AF65-F5344CB8AC3E}">
        <p14:creationId xmlns:p14="http://schemas.microsoft.com/office/powerpoint/2010/main" val="4187292165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A74CC-4F10-A994-E64C-C9809463C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3BDAAB-22EB-17EF-0A6B-0CA262E5C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GitHub - Branches</a:t>
            </a:r>
          </a:p>
        </p:txBody>
      </p:sp>
      <p:pic>
        <p:nvPicPr>
          <p:cNvPr id="5" name="Picture 2" descr="Git Branches: List, Create, Switch to, Merge, Push, &amp; Delete">
            <a:extLst>
              <a:ext uri="{FF2B5EF4-FFF2-40B4-BE49-F238E27FC236}">
                <a16:creationId xmlns:a16="http://schemas.microsoft.com/office/drawing/2014/main" id="{CA769A26-AB1B-3ECC-B546-BB3B1598DA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996" y="2253046"/>
            <a:ext cx="5627827" cy="288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1B6FF9-1667-55FD-F8DF-6D2EC335396B}"/>
              </a:ext>
            </a:extLst>
          </p:cNvPr>
          <p:cNvSpPr txBox="1"/>
          <p:nvPr/>
        </p:nvSpPr>
        <p:spPr>
          <a:xfrm>
            <a:off x="782320" y="3215760"/>
            <a:ext cx="142875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rgbClr val="0053A0"/>
                </a:solidFill>
              </a:rPr>
              <a:t>Also called “main”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7B00F60-9678-54CC-CE9C-BC21FE011761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211071" y="3538926"/>
            <a:ext cx="542925" cy="5935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512EBA5-CE8E-CD52-5A86-D119DFA7F799}"/>
              </a:ext>
            </a:extLst>
          </p:cNvPr>
          <p:cNvSpPr txBox="1"/>
          <p:nvPr/>
        </p:nvSpPr>
        <p:spPr>
          <a:xfrm>
            <a:off x="782320" y="1854585"/>
            <a:ext cx="2686051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rgbClr val="0053A0"/>
                </a:solidFill>
              </a:rPr>
              <a:t>This is a branch you create to make your changes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3623B13-A9D2-2628-BF49-412532214DC7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468371" y="2316250"/>
            <a:ext cx="542925" cy="5763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5550587-D69F-D1DA-6984-CA3AC0E1803C}"/>
              </a:ext>
            </a:extLst>
          </p:cNvPr>
          <p:cNvSpPr txBox="1"/>
          <p:nvPr/>
        </p:nvSpPr>
        <p:spPr>
          <a:xfrm>
            <a:off x="5713731" y="750178"/>
            <a:ext cx="336087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rgbClr val="0053A0"/>
                </a:solidFill>
              </a:rPr>
              <a:t>When you are done your changes, they get “merged” back into the main branch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FAF658-99CD-BBE9-A04B-7092FB97D04E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6476823" y="1673508"/>
            <a:ext cx="917347" cy="110440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D244FBCE-E3B7-E691-DB3E-5514A5E5B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218" y="1769035"/>
            <a:ext cx="2686051" cy="374419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B8BD723-45E2-EB69-CA23-25BF9F43A5AE}"/>
              </a:ext>
            </a:extLst>
          </p:cNvPr>
          <p:cNvSpPr txBox="1"/>
          <p:nvPr/>
        </p:nvSpPr>
        <p:spPr>
          <a:xfrm>
            <a:off x="2211071" y="4684321"/>
            <a:ext cx="1428751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rgbClr val="0053A0"/>
                </a:solidFill>
              </a:rPr>
              <a:t>Each bubble is a commit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9B41732-A6CC-0613-F032-82D1EC4820C9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3639822" y="4000500"/>
            <a:ext cx="1075053" cy="11454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136469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1E3D1-986A-CDF8-C193-FB8A0B2C0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641FC2-F69E-A4EC-980E-FBB19E0AE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GitHub - Issues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4D7050-9FD9-0B57-7E98-0BD2ED4898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2955" y="2193928"/>
            <a:ext cx="9813925" cy="201294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A3A137-E721-1DCA-B138-7B01E1930900}"/>
              </a:ext>
            </a:extLst>
          </p:cNvPr>
          <p:cNvSpPr txBox="1"/>
          <p:nvPr/>
        </p:nvSpPr>
        <p:spPr>
          <a:xfrm>
            <a:off x="371474" y="3745207"/>
            <a:ext cx="1428751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rgbClr val="0053A0"/>
                </a:solidFill>
              </a:rPr>
              <a:t>Current “open” issues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140029-4F98-925F-4982-21027F3E6474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1800225" y="3349622"/>
            <a:ext cx="914400" cy="8572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61DCB53-3922-5D39-0A20-1DD7184FD1EE}"/>
              </a:ext>
            </a:extLst>
          </p:cNvPr>
          <p:cNvSpPr txBox="1"/>
          <p:nvPr/>
        </p:nvSpPr>
        <p:spPr>
          <a:xfrm>
            <a:off x="5105399" y="1732263"/>
            <a:ext cx="1428751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rgbClr val="0053A0"/>
                </a:solidFill>
              </a:rPr>
              <a:t>Current “closed” issues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8517DA-9357-061B-3E91-200654F34AA3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695700" y="2193928"/>
            <a:ext cx="1409699" cy="9842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96615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979E1-24A5-B7BE-D885-E1C29AD15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1A70EA8-AD3D-DC31-699C-020CCF9E98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5155" t="711"/>
          <a:stretch/>
        </p:blipFill>
        <p:spPr>
          <a:xfrm>
            <a:off x="4920969" y="538845"/>
            <a:ext cx="5955521" cy="5157105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1AE1BD9-40D2-03BB-B33B-596EFE3A5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GitHub - Issues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B12BE-1EEF-0788-BA2E-51687CABC851}"/>
              </a:ext>
            </a:extLst>
          </p:cNvPr>
          <p:cNvSpPr txBox="1"/>
          <p:nvPr/>
        </p:nvSpPr>
        <p:spPr>
          <a:xfrm>
            <a:off x="3162299" y="1635660"/>
            <a:ext cx="142875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rgbClr val="0053A0"/>
                </a:solidFill>
              </a:rPr>
              <a:t>Tracks history of the issue and status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E2735BF-C3B6-13D7-564A-FBEEB27FAF2A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4591050" y="2235825"/>
            <a:ext cx="762000" cy="5899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0E8EF9B-81CC-7926-E838-85D901FF582D}"/>
              </a:ext>
            </a:extLst>
          </p:cNvPr>
          <p:cNvSpPr txBox="1"/>
          <p:nvPr/>
        </p:nvSpPr>
        <p:spPr>
          <a:xfrm>
            <a:off x="3162299" y="3292758"/>
            <a:ext cx="142875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rgbClr val="0053A0"/>
                </a:solidFill>
              </a:rPr>
              <a:t>An update Owen provided when looking at 4946’s feeder mechanism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ACFE0A-69EE-5030-A182-59B7A2A9C52F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4591050" y="4446920"/>
            <a:ext cx="762000" cy="6596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8C13C6-8469-E59F-B39D-54F657942B16}"/>
              </a:ext>
            </a:extLst>
          </p:cNvPr>
          <p:cNvSpPr txBox="1">
            <a:spLocks/>
          </p:cNvSpPr>
          <p:nvPr/>
        </p:nvSpPr>
        <p:spPr>
          <a:xfrm>
            <a:off x="782320" y="1703917"/>
            <a:ext cx="218948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8590" indent="-188590" algn="l" defTabSz="754361" rtl="0" eaLnBrk="1" latinLnBrk="0" hangingPunct="1">
              <a:lnSpc>
                <a:spcPct val="90000"/>
              </a:lnSpc>
              <a:spcBef>
                <a:spcPts val="825"/>
              </a:spcBef>
              <a:buFont typeface="Arial" panose="020B0604020202020204" pitchFamily="34" charset="0"/>
              <a:buChar char="•"/>
              <a:defRPr sz="2310" kern="1200">
                <a:solidFill>
                  <a:srgbClr val="0053A1"/>
                </a:solidFill>
                <a:latin typeface="+mn-lt"/>
                <a:ea typeface="+mn-ea"/>
                <a:cs typeface="+mn-cs"/>
              </a:defRPr>
            </a:lvl1pPr>
            <a:lvl2pPr marL="565771" indent="-188590" algn="l" defTabSz="754361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980" kern="1200">
                <a:solidFill>
                  <a:srgbClr val="0053A1"/>
                </a:solidFill>
                <a:latin typeface="+mn-lt"/>
                <a:ea typeface="+mn-ea"/>
                <a:cs typeface="+mn-cs"/>
              </a:defRPr>
            </a:lvl2pPr>
            <a:lvl3pPr marL="942951" indent="-188590" algn="l" defTabSz="754361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650" kern="1200">
                <a:solidFill>
                  <a:srgbClr val="0053A1"/>
                </a:solidFill>
                <a:latin typeface="+mn-lt"/>
                <a:ea typeface="+mn-ea"/>
                <a:cs typeface="+mn-cs"/>
              </a:defRPr>
            </a:lvl3pPr>
            <a:lvl4pPr marL="1320132" indent="-188590" algn="l" defTabSz="754361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rgbClr val="0053A1"/>
                </a:solidFill>
                <a:latin typeface="+mn-lt"/>
                <a:ea typeface="+mn-ea"/>
                <a:cs typeface="+mn-cs"/>
              </a:defRPr>
            </a:lvl4pPr>
            <a:lvl5pPr marL="1697313" indent="-188590" algn="l" defTabSz="754361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rgbClr val="0053A1"/>
                </a:solidFill>
                <a:latin typeface="+mn-lt"/>
                <a:ea typeface="+mn-ea"/>
                <a:cs typeface="+mn-cs"/>
              </a:defRPr>
            </a:lvl5pPr>
            <a:lvl6pPr marL="2074493" indent="-188590" algn="l" defTabSz="754361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1674" indent="-188590" algn="l" defTabSz="754361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8854" indent="-188590" algn="l" defTabSz="754361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06035" indent="-188590" algn="l" defTabSz="754361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b="0" dirty="0"/>
              <a:t>Issues always need to be made to a repository</a:t>
            </a:r>
          </a:p>
          <a:p>
            <a:pPr fontAlgn="auto">
              <a:spcAft>
                <a:spcPts val="0"/>
              </a:spcAft>
            </a:pPr>
            <a:r>
              <a:rPr lang="en-US" b="0" dirty="0"/>
              <a:t>Issues always need to be given a milestone and added to the project board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17B42-99AE-C45A-6636-4B254497E3D7}"/>
              </a:ext>
            </a:extLst>
          </p:cNvPr>
          <p:cNvSpPr txBox="1"/>
          <p:nvPr/>
        </p:nvSpPr>
        <p:spPr>
          <a:xfrm>
            <a:off x="7324724" y="199553"/>
            <a:ext cx="178117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solidFill>
                  <a:srgbClr val="0053A0"/>
                </a:solidFill>
              </a:rPr>
              <a:t>Issue is currently an “open” issue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42AA99-20FD-AC82-4DE7-14B07DDC5B54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5505450" y="661218"/>
            <a:ext cx="1819274" cy="50666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316463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4BAE9-B8E6-C1F1-87B4-E3D51B6D1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ED6ADA-4BEE-A7EC-BC34-D48832DAC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GitHub -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13E8F-D463-4DF5-611F-2703BCBC2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Projects allow us to organize issues, tasks, and deadlines all in one place</a:t>
            </a:r>
          </a:p>
          <a:p>
            <a:r>
              <a:rPr lang="en-US" dirty="0"/>
              <a:t>Projects typically get created for large scale projects such as the 2025 robot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0E8D41D-6AFB-8EDB-87CB-B2FEA7445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52575" y="3301438"/>
            <a:ext cx="7515225" cy="244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676540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62BB1-D308-C4FD-62BD-891841627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5C77AD-5975-7A36-6516-20D2AAEA6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GitHub – Project 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AA37E-30C1-F75F-0AF3-AB8214C5C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0" y="1703918"/>
            <a:ext cx="9814560" cy="1525632"/>
          </a:xfrm>
        </p:spPr>
        <p:txBody>
          <a:bodyPr/>
          <a:lstStyle/>
          <a:p>
            <a:r>
              <a:rPr lang="en-US" dirty="0"/>
              <a:t>Project boards allow us to see all the current issues and tasks associated with that project</a:t>
            </a:r>
          </a:p>
          <a:p>
            <a:r>
              <a:rPr lang="en-US" dirty="0"/>
              <a:t>The mechanical project board organizes this information to make sure important tasks are highly visible and tracks progress of them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23AF21-B63E-0950-885B-E5AE3D3BF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88" y="3229549"/>
            <a:ext cx="10733424" cy="237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02004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1B934BFD-7116-44EF-B08A-4CC70F77305D}"/>
              </a:ext>
            </a:extLst>
          </p:cNvPr>
          <p:cNvSpPr txBox="1">
            <a:spLocks/>
          </p:cNvSpPr>
          <p:nvPr/>
        </p:nvSpPr>
        <p:spPr>
          <a:xfrm>
            <a:off x="768041" y="2262758"/>
            <a:ext cx="9843118" cy="123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5436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4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4000" dirty="0"/>
              <a:t>See next presentation on GitHub workflow </a:t>
            </a:r>
          </a:p>
        </p:txBody>
      </p:sp>
    </p:spTree>
    <p:extLst>
      <p:ext uri="{BB962C8B-B14F-4D97-AF65-F5344CB8AC3E}">
        <p14:creationId xmlns:p14="http://schemas.microsoft.com/office/powerpoint/2010/main" val="29240407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OUTPUT_FILE_NAME" val="Corporate Presentation"/>
  <p:tag name="GENSWF_MOVIE_ONCLICK_URL" val="http://"/>
  <p:tag name="GENSWF_MOVIE_PRESENTATION_END_URL" val="http://"/>
</p:tagLst>
</file>

<file path=ppt/theme/theme1.xml><?xml version="1.0" encoding="utf-8"?>
<a:theme xmlns:a="http://schemas.openxmlformats.org/drawingml/2006/main" name="CL_Standard_samp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C5885 PPT Template" id="{300DACCE-42E1-4586-B918-A59ABF1573A8}" vid="{700E6190-2E60-44F9-93AF-55B9DD370F0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FRC5885 PPT Template</Template>
  <TotalTime>85</TotalTime>
  <Words>699</Words>
  <Application>Microsoft Office PowerPoint</Application>
  <PresentationFormat>Custom</PresentationFormat>
  <Paragraphs>82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CL_Standard_sample</vt:lpstr>
      <vt:lpstr>PowerPoint Presentation</vt:lpstr>
      <vt:lpstr>PowerPoint Presentation</vt:lpstr>
      <vt:lpstr>What is GitHub?</vt:lpstr>
      <vt:lpstr>What is the purpose of GitHub?</vt:lpstr>
      <vt:lpstr>Why is it important? What do we use it for?</vt:lpstr>
      <vt:lpstr>Creating a GitHub account:</vt:lpstr>
      <vt:lpstr>Creating a GitHub account:</vt:lpstr>
      <vt:lpstr>Creating a GitHub account:</vt:lpstr>
      <vt:lpstr>FRC5885 homepage</vt:lpstr>
      <vt:lpstr>Intro to GitHub - Repositories</vt:lpstr>
      <vt:lpstr>Intro to GitHub - Commits</vt:lpstr>
      <vt:lpstr>Intro to GitHub - Pushes</vt:lpstr>
      <vt:lpstr>Intro to GitHub - Branches</vt:lpstr>
      <vt:lpstr>Intro to GitHub - Issues</vt:lpstr>
      <vt:lpstr>Intro to GitHub - Issues</vt:lpstr>
      <vt:lpstr>Intro to GitHub - Projects</vt:lpstr>
      <vt:lpstr>Intro to GitHub – Project Boards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Thibert</dc:creator>
  <cp:lastModifiedBy>John Thibert</cp:lastModifiedBy>
  <cp:revision>1</cp:revision>
  <dcterms:created xsi:type="dcterms:W3CDTF">2025-05-01T20:43:41Z</dcterms:created>
  <dcterms:modified xsi:type="dcterms:W3CDTF">2025-05-01T22:09:16Z</dcterms:modified>
</cp:coreProperties>
</file>