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0" r:id="rId5"/>
    <p:sldId id="257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99FF"/>
    <a:srgbClr val="6600CC"/>
    <a:srgbClr val="66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6" d="100"/>
          <a:sy n="96" d="100"/>
        </p:scale>
        <p:origin x="1233" y="57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hn Thibert" userId="c181b6691ce37e04" providerId="LiveId" clId="{A3369ED9-4DE3-4037-B7AE-E982231BE005}"/>
    <pc:docChg chg="custSel modSld">
      <pc:chgData name="John Thibert" userId="c181b6691ce37e04" providerId="LiveId" clId="{A3369ED9-4DE3-4037-B7AE-E982231BE005}" dt="2025-05-08T23:27:50.962" v="0" actId="478"/>
      <pc:docMkLst>
        <pc:docMk/>
      </pc:docMkLst>
      <pc:sldChg chg="delSp mod">
        <pc:chgData name="John Thibert" userId="c181b6691ce37e04" providerId="LiveId" clId="{A3369ED9-4DE3-4037-B7AE-E982231BE005}" dt="2025-05-08T23:27:50.962" v="0" actId="478"/>
        <pc:sldMkLst>
          <pc:docMk/>
          <pc:sldMk cId="72332392" sldId="256"/>
        </pc:sldMkLst>
        <pc:spChg chg="del">
          <ac:chgData name="John Thibert" userId="c181b6691ce37e04" providerId="LiveId" clId="{A3369ED9-4DE3-4037-B7AE-E982231BE005}" dt="2025-05-08T23:27:50.962" v="0" actId="478"/>
          <ac:spMkLst>
            <pc:docMk/>
            <pc:sldMk cId="72332392" sldId="256"/>
            <ac:spMk id="3" creationId="{00000000-0000-0000-0000-000000000000}"/>
          </ac:spMkLst>
        </pc:spChg>
      </pc:sldChg>
    </pc:docChg>
  </pc:docChgLst>
  <pc:docChgLst>
    <pc:chgData name="John Thibert" userId="c181b6691ce37e04" providerId="LiveId" clId="{2C80D14E-1867-4A1D-B493-6C779585444A}"/>
    <pc:docChg chg="delSld modSld">
      <pc:chgData name="John Thibert" userId="c181b6691ce37e04" providerId="LiveId" clId="{2C80D14E-1867-4A1D-B493-6C779585444A}" dt="2025-05-05T17:49:07.295" v="17" actId="2696"/>
      <pc:docMkLst>
        <pc:docMk/>
      </pc:docMkLst>
      <pc:sldChg chg="modSp mod">
        <pc:chgData name="John Thibert" userId="c181b6691ce37e04" providerId="LiveId" clId="{2C80D14E-1867-4A1D-B493-6C779585444A}" dt="2025-05-05T17:48:09.786" v="16" actId="20577"/>
        <pc:sldMkLst>
          <pc:docMk/>
          <pc:sldMk cId="72332392" sldId="256"/>
        </pc:sldMkLst>
        <pc:spChg chg="mod">
          <ac:chgData name="John Thibert" userId="c181b6691ce37e04" providerId="LiveId" clId="{2C80D14E-1867-4A1D-B493-6C779585444A}" dt="2025-05-05T17:48:09.786" v="16" actId="20577"/>
          <ac:spMkLst>
            <pc:docMk/>
            <pc:sldMk cId="72332392" sldId="256"/>
            <ac:spMk id="2" creationId="{00000000-0000-0000-0000-000000000000}"/>
          </ac:spMkLst>
        </pc:spChg>
      </pc:sldChg>
      <pc:sldChg chg="del">
        <pc:chgData name="John Thibert" userId="c181b6691ce37e04" providerId="LiveId" clId="{2C80D14E-1867-4A1D-B493-6C779585444A}" dt="2025-05-05T17:49:07.295" v="17" actId="2696"/>
        <pc:sldMkLst>
          <pc:docMk/>
          <pc:sldMk cId="3772833336" sldId="266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2A3B7D-0EFA-48E9-BFD7-828AFFB09A3F}" type="datetimeFigureOut">
              <a:rPr lang="en-US" smtClean="0"/>
              <a:t>5/8/2025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97CBD1-F3AC-4E3E-BDAA-AC9B2BAFC4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66898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2A3B7D-0EFA-48E9-BFD7-828AFFB09A3F}" type="datetimeFigureOut">
              <a:rPr lang="en-US" smtClean="0"/>
              <a:t>5/8/2025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97CBD1-F3AC-4E3E-BDAA-AC9B2BAFC4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87427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2A3B7D-0EFA-48E9-BFD7-828AFFB09A3F}" type="datetimeFigureOut">
              <a:rPr lang="en-US" smtClean="0"/>
              <a:t>5/8/2025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97CBD1-F3AC-4E3E-BDAA-AC9B2BAFC4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78796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2A3B7D-0EFA-48E9-BFD7-828AFFB09A3F}" type="datetimeFigureOut">
              <a:rPr lang="en-US" smtClean="0"/>
              <a:t>5/8/2025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97CBD1-F3AC-4E3E-BDAA-AC9B2BAFC4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9844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2A3B7D-0EFA-48E9-BFD7-828AFFB09A3F}" type="datetimeFigureOut">
              <a:rPr lang="en-US" smtClean="0"/>
              <a:t>5/8/2025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97CBD1-F3AC-4E3E-BDAA-AC9B2BAFC4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41054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2A3B7D-0EFA-48E9-BFD7-828AFFB09A3F}" type="datetimeFigureOut">
              <a:rPr lang="en-US" smtClean="0"/>
              <a:t>5/8/2025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97CBD1-F3AC-4E3E-BDAA-AC9B2BAFC4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24169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2A3B7D-0EFA-48E9-BFD7-828AFFB09A3F}" type="datetimeFigureOut">
              <a:rPr lang="en-US" smtClean="0"/>
              <a:t>5/8/2025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97CBD1-F3AC-4E3E-BDAA-AC9B2BAFC4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86232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2A3B7D-0EFA-48E9-BFD7-828AFFB09A3F}" type="datetimeFigureOut">
              <a:rPr lang="en-US" smtClean="0"/>
              <a:t>5/8/2025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97CBD1-F3AC-4E3E-BDAA-AC9B2BAFC4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99080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2A3B7D-0EFA-48E9-BFD7-828AFFB09A3F}" type="datetimeFigureOut">
              <a:rPr lang="en-US" smtClean="0"/>
              <a:t>5/8/2025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97CBD1-F3AC-4E3E-BDAA-AC9B2BAFC4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31674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2A3B7D-0EFA-48E9-BFD7-828AFFB09A3F}" type="datetimeFigureOut">
              <a:rPr lang="en-US" smtClean="0"/>
              <a:t>5/8/2025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97CBD1-F3AC-4E3E-BDAA-AC9B2BAFC4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10381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2A3B7D-0EFA-48E9-BFD7-828AFFB09A3F}" type="datetimeFigureOut">
              <a:rPr lang="en-US" smtClean="0"/>
              <a:t>5/8/2025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97CBD1-F3AC-4E3E-BDAA-AC9B2BAFC4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49129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873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914400"/>
            <a:ext cx="8229600" cy="5410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477000"/>
            <a:ext cx="2133600" cy="2444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2A3B7D-0EFA-48E9-BFD7-828AFFB09A3F}" type="datetimeFigureOut">
              <a:rPr lang="en-US" smtClean="0"/>
              <a:pPr/>
              <a:t>5/8/2025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477000"/>
            <a:ext cx="2895600" cy="2444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477000"/>
            <a:ext cx="2133600" cy="2444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97CBD1-F3AC-4E3E-BDAA-AC9B2BAFC43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27249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3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Product Development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3323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Objectives {what do I want to tell you}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Give an example how 1 company handled design {development} of a consumer product.</a:t>
            </a:r>
          </a:p>
          <a:p>
            <a:r>
              <a:rPr lang="en-US" sz="2400" dirty="0"/>
              <a:t>Explain the concepts behind the product methodology.</a:t>
            </a:r>
          </a:p>
          <a:p>
            <a:r>
              <a:rPr lang="en-US" sz="2400" dirty="0"/>
              <a:t>Give examples how these might be applied to FIRST robotics competition.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7244212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Background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14400"/>
            <a:ext cx="8229600" cy="3276600"/>
          </a:xfrm>
        </p:spPr>
        <p:txBody>
          <a:bodyPr>
            <a:normAutofit/>
          </a:bodyPr>
          <a:lstStyle/>
          <a:p>
            <a:r>
              <a:rPr lang="en-US" sz="2400" dirty="0"/>
              <a:t>Product Engineer at Ford Motor Company for ~30 years.</a:t>
            </a:r>
          </a:p>
          <a:p>
            <a:r>
              <a:rPr lang="en-US" sz="2400" dirty="0"/>
              <a:t>Never worked in Manufacturing Engineering, at Ford.</a:t>
            </a:r>
          </a:p>
          <a:p>
            <a:r>
              <a:rPr lang="en-US" sz="2400" dirty="0"/>
              <a:t>Worked in several functional areas;</a:t>
            </a:r>
          </a:p>
          <a:p>
            <a:pPr lvl="1"/>
            <a:r>
              <a:rPr lang="en-US" sz="2000" dirty="0"/>
              <a:t>Vehicle Safety</a:t>
            </a:r>
          </a:p>
          <a:p>
            <a:pPr lvl="1"/>
            <a:r>
              <a:rPr lang="en-US" sz="2000" dirty="0"/>
              <a:t>Integration</a:t>
            </a:r>
          </a:p>
          <a:p>
            <a:pPr lvl="1"/>
            <a:r>
              <a:rPr lang="en-US" sz="2000" dirty="0"/>
              <a:t>Vehicle Dynamics, Noise Vibration and Harshness</a:t>
            </a:r>
          </a:p>
          <a:p>
            <a:pPr lvl="1"/>
            <a:r>
              <a:rPr lang="en-US" sz="2000" dirty="0"/>
              <a:t>Chassis Engineering</a:t>
            </a:r>
          </a:p>
          <a:p>
            <a:r>
              <a:rPr lang="en-US" sz="2400" dirty="0"/>
              <a:t>Worked exclusively in simulation and test development</a:t>
            </a:r>
          </a:p>
          <a:p>
            <a:endParaRPr lang="en-US" sz="2400" dirty="0"/>
          </a:p>
        </p:txBody>
      </p:sp>
      <p:sp>
        <p:nvSpPr>
          <p:cNvPr id="4" name="Horizontal Scroll 3"/>
          <p:cNvSpPr/>
          <p:nvPr/>
        </p:nvSpPr>
        <p:spPr>
          <a:xfrm>
            <a:off x="1447800" y="4876800"/>
            <a:ext cx="6858000" cy="1447800"/>
          </a:xfrm>
          <a:prstGeom prst="horizontalScroll">
            <a:avLst/>
          </a:prstGeom>
          <a:solidFill>
            <a:srgbClr val="0099FF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tx1"/>
                </a:solidFill>
              </a:rPr>
              <a:t>It should be noted that automotive development is a highly mature industry </a:t>
            </a:r>
            <a:r>
              <a:rPr lang="en-US" b="1" dirty="0">
                <a:solidFill>
                  <a:schemeClr val="tx1"/>
                </a:solidFill>
                <a:sym typeface="Symbol"/>
              </a:rPr>
              <a:t> design alternatives are small compared to emerging technologies </a:t>
            </a:r>
            <a:endParaRPr lang="en-US" sz="16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868250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Background: Ford Divisions</a:t>
            </a:r>
          </a:p>
        </p:txBody>
      </p:sp>
      <p:grpSp>
        <p:nvGrpSpPr>
          <p:cNvPr id="11" name="Group 10"/>
          <p:cNvGrpSpPr/>
          <p:nvPr/>
        </p:nvGrpSpPr>
        <p:grpSpPr>
          <a:xfrm>
            <a:off x="2895600" y="3657600"/>
            <a:ext cx="5791200" cy="2913434"/>
            <a:chOff x="2133600" y="1600200"/>
            <a:chExt cx="5791200" cy="2913434"/>
          </a:xfrm>
        </p:grpSpPr>
        <p:sp>
          <p:nvSpPr>
            <p:cNvPr id="9" name="Oval 8"/>
            <p:cNvSpPr/>
            <p:nvPr/>
          </p:nvSpPr>
          <p:spPr>
            <a:xfrm>
              <a:off x="5410200" y="3294434"/>
              <a:ext cx="2514600" cy="1219200"/>
            </a:xfrm>
            <a:prstGeom prst="ellipse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Customer Service</a:t>
              </a:r>
            </a:p>
          </p:txBody>
        </p:sp>
        <p:sp>
          <p:nvSpPr>
            <p:cNvPr id="10" name="Oval 9"/>
            <p:cNvSpPr/>
            <p:nvPr/>
          </p:nvSpPr>
          <p:spPr>
            <a:xfrm>
              <a:off x="3581400" y="2720502"/>
              <a:ext cx="2514600" cy="1219200"/>
            </a:xfrm>
            <a:prstGeom prst="ellipse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Marketing</a:t>
              </a:r>
            </a:p>
          </p:txBody>
        </p:sp>
        <p:sp>
          <p:nvSpPr>
            <p:cNvPr id="5" name="Oval 4"/>
            <p:cNvSpPr/>
            <p:nvPr/>
          </p:nvSpPr>
          <p:spPr>
            <a:xfrm>
              <a:off x="2438400" y="1600200"/>
              <a:ext cx="2514600" cy="1219200"/>
            </a:xfrm>
            <a:prstGeom prst="ellipse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Product Development</a:t>
              </a:r>
            </a:p>
          </p:txBody>
        </p:sp>
        <p:sp>
          <p:nvSpPr>
            <p:cNvPr id="6" name="Oval 5"/>
            <p:cNvSpPr/>
            <p:nvPr/>
          </p:nvSpPr>
          <p:spPr>
            <a:xfrm>
              <a:off x="2133600" y="2514600"/>
              <a:ext cx="1828800" cy="990600"/>
            </a:xfrm>
            <a:prstGeom prst="ellipse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Plants</a:t>
              </a:r>
            </a:p>
          </p:txBody>
        </p:sp>
        <p:sp>
          <p:nvSpPr>
            <p:cNvPr id="7" name="Oval 6"/>
            <p:cNvSpPr/>
            <p:nvPr/>
          </p:nvSpPr>
          <p:spPr>
            <a:xfrm>
              <a:off x="4495800" y="1790700"/>
              <a:ext cx="2514600" cy="1219200"/>
            </a:xfrm>
            <a:prstGeom prst="ellipse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Manufacturing</a:t>
              </a:r>
            </a:p>
            <a:p>
              <a:pPr algn="ctr"/>
              <a:r>
                <a:rPr lang="en-US" dirty="0"/>
                <a:t>Engineering</a:t>
              </a:r>
            </a:p>
          </p:txBody>
        </p:sp>
        <p:sp>
          <p:nvSpPr>
            <p:cNvPr id="8" name="Oval 7"/>
            <p:cNvSpPr/>
            <p:nvPr/>
          </p:nvSpPr>
          <p:spPr>
            <a:xfrm>
              <a:off x="2317615" y="3330102"/>
              <a:ext cx="2178185" cy="860898"/>
            </a:xfrm>
            <a:prstGeom prst="ellipse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Finance</a:t>
              </a:r>
            </a:p>
          </p:txBody>
        </p:sp>
      </p:grpSp>
      <p:grpSp>
        <p:nvGrpSpPr>
          <p:cNvPr id="19" name="Group 18"/>
          <p:cNvGrpSpPr/>
          <p:nvPr/>
        </p:nvGrpSpPr>
        <p:grpSpPr>
          <a:xfrm>
            <a:off x="629055" y="1378896"/>
            <a:ext cx="3193105" cy="1776108"/>
            <a:chOff x="629055" y="1378896"/>
            <a:chExt cx="3193105" cy="1776108"/>
          </a:xfrm>
        </p:grpSpPr>
        <p:sp>
          <p:nvSpPr>
            <p:cNvPr id="17" name="Rounded Rectangle 16"/>
            <p:cNvSpPr/>
            <p:nvPr/>
          </p:nvSpPr>
          <p:spPr>
            <a:xfrm>
              <a:off x="1086255" y="2774004"/>
              <a:ext cx="1485090" cy="381000"/>
            </a:xfrm>
            <a:prstGeom prst="round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Electrical</a:t>
              </a:r>
            </a:p>
          </p:txBody>
        </p:sp>
        <p:sp>
          <p:nvSpPr>
            <p:cNvPr id="16" name="Rounded Rectangle 15"/>
            <p:cNvSpPr/>
            <p:nvPr/>
          </p:nvSpPr>
          <p:spPr>
            <a:xfrm>
              <a:off x="629055" y="2169268"/>
              <a:ext cx="1485090" cy="604736"/>
            </a:xfrm>
            <a:prstGeom prst="roundRect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Fuel Systems</a:t>
              </a:r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914400" y="1447800"/>
              <a:ext cx="914400" cy="457200"/>
            </a:xfrm>
            <a:prstGeom prst="roundRect">
              <a:avLst/>
            </a:prstGeom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Body</a:t>
              </a:r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1422670" y="1867711"/>
              <a:ext cx="914400" cy="457200"/>
            </a:xfrm>
            <a:prstGeom prst="round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Chassis</a:t>
              </a:r>
            </a:p>
          </p:txBody>
        </p:sp>
        <p:sp>
          <p:nvSpPr>
            <p:cNvPr id="14" name="Rounded Rectangle 13"/>
            <p:cNvSpPr/>
            <p:nvPr/>
          </p:nvSpPr>
          <p:spPr>
            <a:xfrm>
              <a:off x="2324910" y="1605064"/>
              <a:ext cx="1485090" cy="604736"/>
            </a:xfrm>
            <a:prstGeom prst="roundRect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Powertrain</a:t>
              </a:r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2337070" y="2362200"/>
              <a:ext cx="1485090" cy="604736"/>
            </a:xfrm>
            <a:prstGeom prst="roundRect">
              <a:avLst/>
            </a:prstGeom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Powertrain</a:t>
              </a:r>
            </a:p>
            <a:p>
              <a:pPr algn="ctr"/>
              <a:r>
                <a:rPr lang="en-US" dirty="0"/>
                <a:t>Systems</a:t>
              </a:r>
            </a:p>
          </p:txBody>
        </p:sp>
        <p:sp>
          <p:nvSpPr>
            <p:cNvPr id="18" name="Rounded Rectangle 17"/>
            <p:cNvSpPr/>
            <p:nvPr/>
          </p:nvSpPr>
          <p:spPr>
            <a:xfrm>
              <a:off x="1887165" y="1378896"/>
              <a:ext cx="1180290" cy="452336"/>
            </a:xfrm>
            <a:prstGeom prst="round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Exhaust</a:t>
              </a:r>
            </a:p>
          </p:txBody>
        </p:sp>
      </p:grpSp>
      <p:sp>
        <p:nvSpPr>
          <p:cNvPr id="20" name="Notched Right Arrow 19"/>
          <p:cNvSpPr/>
          <p:nvPr/>
        </p:nvSpPr>
        <p:spPr>
          <a:xfrm rot="15006434">
            <a:off x="3733799" y="2586524"/>
            <a:ext cx="1219200" cy="1389452"/>
          </a:xfrm>
          <a:prstGeom prst="notchedRightArrow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4724400" y="1378896"/>
            <a:ext cx="914400" cy="297504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NVH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0" y="1616300"/>
            <a:ext cx="1143000" cy="297504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Durability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181600" y="1853704"/>
            <a:ext cx="1143000" cy="297504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Safety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334000" y="2091108"/>
            <a:ext cx="1371600" cy="297504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Ergonomics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524500" y="2322884"/>
            <a:ext cx="1981200" cy="297504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Vehicle Dynamics</a:t>
            </a:r>
          </a:p>
        </p:txBody>
      </p:sp>
      <p:sp>
        <p:nvSpPr>
          <p:cNvPr id="27" name="Notched Right Arrow 26"/>
          <p:cNvSpPr/>
          <p:nvPr/>
        </p:nvSpPr>
        <p:spPr>
          <a:xfrm rot="10800000">
            <a:off x="4032663" y="1867711"/>
            <a:ext cx="850073" cy="436778"/>
          </a:xfrm>
          <a:prstGeom prst="notchedRightArrow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18912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Program Development Timing</a:t>
            </a:r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50251779"/>
              </p:ext>
            </p:extLst>
          </p:nvPr>
        </p:nvGraphicFramePr>
        <p:xfrm>
          <a:off x="457200" y="883920"/>
          <a:ext cx="8229600" cy="10972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33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09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r>
                        <a:rPr lang="en-US" sz="1200" dirty="0"/>
                        <a:t>PS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Program Start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PSC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Program Strategy Confirmed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PTC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Program Target Compatibility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9080">
                <a:tc>
                  <a:txBody>
                    <a:bodyPr/>
                    <a:lstStyle/>
                    <a:p>
                      <a:r>
                        <a:rPr lang="en-US" sz="1200" dirty="0"/>
                        <a:t>PA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Program Approval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FDJ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Final Design Judgement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CP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Confirmation Prototype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7160">
                <a:tc>
                  <a:txBody>
                    <a:bodyPr/>
                    <a:lstStyle/>
                    <a:p>
                      <a:r>
                        <a:rPr lang="en-US" sz="1200" dirty="0"/>
                        <a:t>PEC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Preliminary</a:t>
                      </a:r>
                      <a:r>
                        <a:rPr lang="en-US" sz="1200" baseline="0" dirty="0"/>
                        <a:t> </a:t>
                      </a:r>
                      <a:r>
                        <a:rPr lang="en-US" sz="1200" baseline="0" dirty="0" err="1"/>
                        <a:t>Eng</a:t>
                      </a:r>
                      <a:r>
                        <a:rPr lang="en-US" sz="1200" baseline="0" dirty="0"/>
                        <a:t> Completion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LR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Launch Readiness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LS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Launch Signoff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3840">
                <a:tc>
                  <a:txBody>
                    <a:bodyPr/>
                    <a:lstStyle/>
                    <a:p>
                      <a:r>
                        <a:rPr lang="en-US" sz="1200" dirty="0"/>
                        <a:t>J1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Job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2743200"/>
            <a:ext cx="8839200" cy="383725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2036483"/>
            <a:ext cx="75244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Target development, design development, design verification, program timing </a:t>
            </a:r>
          </a:p>
        </p:txBody>
      </p:sp>
    </p:spTree>
    <p:extLst>
      <p:ext uri="{BB962C8B-B14F-4D97-AF65-F5344CB8AC3E}">
        <p14:creationId xmlns:p14="http://schemas.microsoft.com/office/powerpoint/2010/main" val="12045231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Target Cascade and Verification</a:t>
            </a:r>
          </a:p>
        </p:txBody>
      </p:sp>
      <p:grpSp>
        <p:nvGrpSpPr>
          <p:cNvPr id="21" name="Group 20"/>
          <p:cNvGrpSpPr/>
          <p:nvPr/>
        </p:nvGrpSpPr>
        <p:grpSpPr>
          <a:xfrm>
            <a:off x="381000" y="1295400"/>
            <a:ext cx="8407887" cy="471792"/>
            <a:chOff x="381000" y="1295400"/>
            <a:chExt cx="8407887" cy="471792"/>
          </a:xfrm>
        </p:grpSpPr>
        <p:sp>
          <p:nvSpPr>
            <p:cNvPr id="3" name="Diamond 2"/>
            <p:cNvSpPr/>
            <p:nvPr/>
          </p:nvSpPr>
          <p:spPr>
            <a:xfrm>
              <a:off x="381000" y="1306749"/>
              <a:ext cx="457200" cy="457200"/>
            </a:xfrm>
            <a:prstGeom prst="diamond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000" dirty="0"/>
                <a:t>PS</a:t>
              </a:r>
            </a:p>
          </p:txBody>
        </p:sp>
        <p:sp>
          <p:nvSpPr>
            <p:cNvPr id="6" name="Diamond 5"/>
            <p:cNvSpPr/>
            <p:nvPr/>
          </p:nvSpPr>
          <p:spPr>
            <a:xfrm>
              <a:off x="8331687" y="1295400"/>
              <a:ext cx="457200" cy="457200"/>
            </a:xfrm>
            <a:prstGeom prst="diamond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000" dirty="0"/>
                <a:t>J1</a:t>
              </a:r>
            </a:p>
          </p:txBody>
        </p:sp>
        <p:sp>
          <p:nvSpPr>
            <p:cNvPr id="7" name="Diamond 6"/>
            <p:cNvSpPr/>
            <p:nvPr/>
          </p:nvSpPr>
          <p:spPr>
            <a:xfrm>
              <a:off x="1066800" y="1295400"/>
              <a:ext cx="457200" cy="457200"/>
            </a:xfrm>
            <a:prstGeom prst="diamond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000" dirty="0"/>
                <a:t>PSC</a:t>
              </a:r>
            </a:p>
          </p:txBody>
        </p:sp>
        <p:sp>
          <p:nvSpPr>
            <p:cNvPr id="8" name="Diamond 7"/>
            <p:cNvSpPr/>
            <p:nvPr/>
          </p:nvSpPr>
          <p:spPr>
            <a:xfrm>
              <a:off x="1981200" y="1295400"/>
              <a:ext cx="457200" cy="457200"/>
            </a:xfrm>
            <a:prstGeom prst="diamond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000" dirty="0"/>
                <a:t>PTC</a:t>
              </a:r>
            </a:p>
          </p:txBody>
        </p:sp>
        <p:sp>
          <p:nvSpPr>
            <p:cNvPr id="9" name="Diamond 8"/>
            <p:cNvSpPr/>
            <p:nvPr/>
          </p:nvSpPr>
          <p:spPr>
            <a:xfrm>
              <a:off x="4191000" y="1309992"/>
              <a:ext cx="457200" cy="457200"/>
            </a:xfrm>
            <a:prstGeom prst="diamond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000" dirty="0"/>
                <a:t>FDJ</a:t>
              </a:r>
            </a:p>
          </p:txBody>
        </p:sp>
        <p:sp>
          <p:nvSpPr>
            <p:cNvPr id="10" name="Diamond 9"/>
            <p:cNvSpPr/>
            <p:nvPr/>
          </p:nvSpPr>
          <p:spPr>
            <a:xfrm>
              <a:off x="3276600" y="1295400"/>
              <a:ext cx="457200" cy="457200"/>
            </a:xfrm>
            <a:prstGeom prst="diamond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000" dirty="0"/>
                <a:t>PA</a:t>
              </a:r>
            </a:p>
          </p:txBody>
        </p:sp>
        <p:sp>
          <p:nvSpPr>
            <p:cNvPr id="11" name="Diamond 10"/>
            <p:cNvSpPr/>
            <p:nvPr/>
          </p:nvSpPr>
          <p:spPr>
            <a:xfrm>
              <a:off x="5334000" y="1295400"/>
              <a:ext cx="457200" cy="457200"/>
            </a:xfrm>
            <a:prstGeom prst="diamond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000" dirty="0"/>
                <a:t>CP</a:t>
              </a:r>
            </a:p>
          </p:txBody>
        </p:sp>
        <p:sp>
          <p:nvSpPr>
            <p:cNvPr id="12" name="Diamond 11"/>
            <p:cNvSpPr/>
            <p:nvPr/>
          </p:nvSpPr>
          <p:spPr>
            <a:xfrm>
              <a:off x="6096000" y="1295400"/>
              <a:ext cx="457200" cy="457200"/>
            </a:xfrm>
            <a:prstGeom prst="diamond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000" dirty="0"/>
                <a:t>LR</a:t>
              </a:r>
            </a:p>
          </p:txBody>
        </p:sp>
        <p:sp>
          <p:nvSpPr>
            <p:cNvPr id="13" name="Diamond 12"/>
            <p:cNvSpPr/>
            <p:nvPr/>
          </p:nvSpPr>
          <p:spPr>
            <a:xfrm>
              <a:off x="7086600" y="1295400"/>
              <a:ext cx="457200" cy="457200"/>
            </a:xfrm>
            <a:prstGeom prst="diamond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000" dirty="0"/>
                <a:t>LS</a:t>
              </a:r>
            </a:p>
          </p:txBody>
        </p:sp>
      </p:grpSp>
      <p:grpSp>
        <p:nvGrpSpPr>
          <p:cNvPr id="48" name="Group 47"/>
          <p:cNvGrpSpPr/>
          <p:nvPr/>
        </p:nvGrpSpPr>
        <p:grpSpPr>
          <a:xfrm>
            <a:off x="762000" y="2133600"/>
            <a:ext cx="6221876" cy="3947846"/>
            <a:chOff x="762000" y="2133600"/>
            <a:chExt cx="6221876" cy="3947846"/>
          </a:xfrm>
        </p:grpSpPr>
        <p:grpSp>
          <p:nvGrpSpPr>
            <p:cNvPr id="47" name="Group 46"/>
            <p:cNvGrpSpPr/>
            <p:nvPr/>
          </p:nvGrpSpPr>
          <p:grpSpPr>
            <a:xfrm>
              <a:off x="1044102" y="2133600"/>
              <a:ext cx="5126574" cy="3947846"/>
              <a:chOff x="1044102" y="2133600"/>
              <a:chExt cx="5126574" cy="3947846"/>
            </a:xfrm>
          </p:grpSpPr>
          <p:sp>
            <p:nvSpPr>
              <p:cNvPr id="27" name="Parallelogram 26"/>
              <p:cNvSpPr/>
              <p:nvPr/>
            </p:nvSpPr>
            <p:spPr>
              <a:xfrm>
                <a:off x="4860393" y="3232373"/>
                <a:ext cx="1216152" cy="914400"/>
              </a:xfrm>
              <a:prstGeom prst="parallelogram">
                <a:avLst>
                  <a:gd name="adj" fmla="val 12234"/>
                </a:avLst>
              </a:prstGeom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lIns="0" rIns="0" rtlCol="0" anchor="ctr"/>
              <a:lstStyle/>
              <a:p>
                <a:pPr algn="ctr"/>
                <a:r>
                  <a:rPr lang="en-US" sz="1200" dirty="0"/>
                  <a:t>System</a:t>
                </a:r>
              </a:p>
              <a:p>
                <a:pPr algn="ctr"/>
                <a:r>
                  <a:rPr lang="en-US" sz="1200" dirty="0"/>
                  <a:t>Verification</a:t>
                </a:r>
              </a:p>
            </p:txBody>
          </p:sp>
          <p:sp>
            <p:nvSpPr>
              <p:cNvPr id="4" name="Parallelogram 3"/>
              <p:cNvSpPr/>
              <p:nvPr/>
            </p:nvSpPr>
            <p:spPr>
              <a:xfrm flipH="1">
                <a:off x="1044102" y="2183621"/>
                <a:ext cx="1598676" cy="914400"/>
              </a:xfrm>
              <a:prstGeom prst="parallelogram">
                <a:avLst>
                  <a:gd name="adj" fmla="val 61170"/>
                </a:avLst>
              </a:prstGeom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/>
                  <a:t>Vehicle</a:t>
                </a:r>
              </a:p>
              <a:p>
                <a:pPr algn="ctr"/>
                <a:r>
                  <a:rPr lang="en-US" sz="1200" dirty="0"/>
                  <a:t>Targets</a:t>
                </a:r>
              </a:p>
            </p:txBody>
          </p:sp>
          <p:sp>
            <p:nvSpPr>
              <p:cNvPr id="16" name="Parallelogram 15"/>
              <p:cNvSpPr/>
              <p:nvPr/>
            </p:nvSpPr>
            <p:spPr>
              <a:xfrm flipH="1">
                <a:off x="1655790" y="3232373"/>
                <a:ext cx="1565220" cy="914400"/>
              </a:xfrm>
              <a:prstGeom prst="parallelogram">
                <a:avLst>
                  <a:gd name="adj" fmla="val 57979"/>
                </a:avLst>
              </a:prstGeom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/>
                  <a:t>System</a:t>
                </a:r>
              </a:p>
              <a:p>
                <a:pPr algn="ctr"/>
                <a:r>
                  <a:rPr lang="en-US" sz="1200" dirty="0"/>
                  <a:t>Targets</a:t>
                </a:r>
              </a:p>
            </p:txBody>
          </p:sp>
          <p:sp>
            <p:nvSpPr>
              <p:cNvPr id="17" name="Parallelogram 16"/>
              <p:cNvSpPr/>
              <p:nvPr/>
            </p:nvSpPr>
            <p:spPr>
              <a:xfrm flipH="1">
                <a:off x="2235740" y="4328889"/>
                <a:ext cx="1555669" cy="914400"/>
              </a:xfrm>
              <a:prstGeom prst="parallelogram">
                <a:avLst>
                  <a:gd name="adj" fmla="val 65426"/>
                </a:avLst>
              </a:prstGeom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lIns="0" rIns="0" rtlCol="0" anchor="ctr"/>
              <a:lstStyle/>
              <a:p>
                <a:pPr algn="ctr"/>
                <a:r>
                  <a:rPr lang="en-US" sz="1200" dirty="0"/>
                  <a:t>Component</a:t>
                </a:r>
              </a:p>
              <a:p>
                <a:pPr algn="ctr"/>
                <a:r>
                  <a:rPr lang="en-US" sz="1200" dirty="0"/>
                  <a:t>Targets</a:t>
                </a:r>
              </a:p>
            </p:txBody>
          </p:sp>
          <p:sp>
            <p:nvSpPr>
              <p:cNvPr id="15" name="Flowchart: Manual Operation 14"/>
              <p:cNvSpPr/>
              <p:nvPr/>
            </p:nvSpPr>
            <p:spPr>
              <a:xfrm>
                <a:off x="2993240" y="5465919"/>
                <a:ext cx="2797960" cy="615527"/>
              </a:xfrm>
              <a:custGeom>
                <a:avLst/>
                <a:gdLst>
                  <a:gd name="connsiteX0" fmla="*/ 0 w 10000"/>
                  <a:gd name="connsiteY0" fmla="*/ 0 h 10000"/>
                  <a:gd name="connsiteX1" fmla="*/ 10000 w 10000"/>
                  <a:gd name="connsiteY1" fmla="*/ 0 h 10000"/>
                  <a:gd name="connsiteX2" fmla="*/ 8000 w 10000"/>
                  <a:gd name="connsiteY2" fmla="*/ 10000 h 10000"/>
                  <a:gd name="connsiteX3" fmla="*/ 2000 w 10000"/>
                  <a:gd name="connsiteY3" fmla="*/ 10000 h 10000"/>
                  <a:gd name="connsiteX4" fmla="*/ 0 w 10000"/>
                  <a:gd name="connsiteY4" fmla="*/ 0 h 10000"/>
                  <a:gd name="connsiteX0" fmla="*/ 0 w 10000"/>
                  <a:gd name="connsiteY0" fmla="*/ 0 h 10047"/>
                  <a:gd name="connsiteX1" fmla="*/ 10000 w 10000"/>
                  <a:gd name="connsiteY1" fmla="*/ 0 h 10047"/>
                  <a:gd name="connsiteX2" fmla="*/ 9556 w 10000"/>
                  <a:gd name="connsiteY2" fmla="*/ 10047 h 10047"/>
                  <a:gd name="connsiteX3" fmla="*/ 2000 w 10000"/>
                  <a:gd name="connsiteY3" fmla="*/ 10000 h 10047"/>
                  <a:gd name="connsiteX4" fmla="*/ 0 w 10000"/>
                  <a:gd name="connsiteY4" fmla="*/ 0 h 100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000" h="10047">
                    <a:moveTo>
                      <a:pt x="0" y="0"/>
                    </a:moveTo>
                    <a:lnTo>
                      <a:pt x="10000" y="0"/>
                    </a:lnTo>
                    <a:lnTo>
                      <a:pt x="9556" y="10047"/>
                    </a:lnTo>
                    <a:lnTo>
                      <a:pt x="2000" y="10000"/>
                    </a:lnTo>
                    <a:lnTo>
                      <a:pt x="0" y="0"/>
                    </a:lnTo>
                    <a:close/>
                  </a:path>
                </a:pathLst>
              </a:custGeom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Build Phase</a:t>
                </a:r>
              </a:p>
            </p:txBody>
          </p:sp>
          <p:sp>
            <p:nvSpPr>
              <p:cNvPr id="26" name="Parallelogram 25"/>
              <p:cNvSpPr/>
              <p:nvPr/>
            </p:nvSpPr>
            <p:spPr>
              <a:xfrm>
                <a:off x="4725924" y="4328889"/>
                <a:ext cx="1216152" cy="914400"/>
              </a:xfrm>
              <a:prstGeom prst="parallelogram">
                <a:avLst>
                  <a:gd name="adj" fmla="val 12234"/>
                </a:avLst>
              </a:prstGeom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lIns="0" rIns="0" rtlCol="0" anchor="ctr"/>
              <a:lstStyle/>
              <a:p>
                <a:pPr algn="ctr"/>
                <a:r>
                  <a:rPr lang="en-US" sz="1200" dirty="0"/>
                  <a:t>Component</a:t>
                </a:r>
              </a:p>
              <a:p>
                <a:pPr algn="ctr"/>
                <a:r>
                  <a:rPr lang="en-US" sz="1200" dirty="0"/>
                  <a:t>Verification</a:t>
                </a:r>
              </a:p>
            </p:txBody>
          </p:sp>
          <p:sp>
            <p:nvSpPr>
              <p:cNvPr id="28" name="Parallelogram 27"/>
              <p:cNvSpPr/>
              <p:nvPr/>
            </p:nvSpPr>
            <p:spPr>
              <a:xfrm>
                <a:off x="4954524" y="2133600"/>
                <a:ext cx="1216152" cy="914400"/>
              </a:xfrm>
              <a:prstGeom prst="parallelogram">
                <a:avLst>
                  <a:gd name="adj" fmla="val 11170"/>
                </a:avLst>
              </a:prstGeom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lIns="0" rIns="0" rtlCol="0" anchor="ctr"/>
              <a:lstStyle/>
              <a:p>
                <a:pPr algn="ctr"/>
                <a:r>
                  <a:rPr lang="en-US" sz="1200" dirty="0"/>
                  <a:t>Vehicle</a:t>
                </a:r>
              </a:p>
              <a:p>
                <a:pPr algn="ctr"/>
                <a:r>
                  <a:rPr lang="en-US" sz="1200" dirty="0"/>
                  <a:t>Verification</a:t>
                </a:r>
              </a:p>
            </p:txBody>
          </p:sp>
          <p:grpSp>
            <p:nvGrpSpPr>
              <p:cNvPr id="38" name="Group 37"/>
              <p:cNvGrpSpPr/>
              <p:nvPr/>
            </p:nvGrpSpPr>
            <p:grpSpPr>
              <a:xfrm>
                <a:off x="3791409" y="4461832"/>
                <a:ext cx="707245" cy="462303"/>
                <a:chOff x="3346369" y="4262097"/>
                <a:chExt cx="707245" cy="462303"/>
              </a:xfrm>
            </p:grpSpPr>
            <p:sp>
              <p:nvSpPr>
                <p:cNvPr id="23" name="TextBox 22"/>
                <p:cNvSpPr txBox="1"/>
                <p:nvPr/>
              </p:nvSpPr>
              <p:spPr>
                <a:xfrm>
                  <a:off x="3346369" y="4262097"/>
                  <a:ext cx="707245" cy="43088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100" dirty="0"/>
                    <a:t>½ Shaft</a:t>
                  </a:r>
                </a:p>
                <a:p>
                  <a:r>
                    <a:rPr lang="en-US" sz="1100" dirty="0"/>
                    <a:t> Strength</a:t>
                  </a:r>
                </a:p>
              </p:txBody>
            </p:sp>
            <p:cxnSp>
              <p:nvCxnSpPr>
                <p:cNvPr id="25" name="Straight Arrow Connector 24"/>
                <p:cNvCxnSpPr/>
                <p:nvPr/>
              </p:nvCxnSpPr>
              <p:spPr>
                <a:xfrm>
                  <a:off x="3455261" y="4724400"/>
                  <a:ext cx="496154" cy="0"/>
                </a:xfrm>
                <a:prstGeom prst="straightConnector1">
                  <a:avLst/>
                </a:prstGeom>
                <a:ln w="25400">
                  <a:solidFill>
                    <a:schemeClr val="tx1"/>
                  </a:solidFill>
                  <a:headEnd type="arrow"/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7" name="Group 36"/>
              <p:cNvGrpSpPr/>
              <p:nvPr/>
            </p:nvGrpSpPr>
            <p:grpSpPr>
              <a:xfrm>
                <a:off x="3313438" y="3309610"/>
                <a:ext cx="1224246" cy="609600"/>
                <a:chOff x="3082789" y="3753495"/>
                <a:chExt cx="1224246" cy="609600"/>
              </a:xfrm>
            </p:grpSpPr>
            <p:sp>
              <p:nvSpPr>
                <p:cNvPr id="24" name="TextBox 23"/>
                <p:cNvSpPr txBox="1"/>
                <p:nvPr/>
              </p:nvSpPr>
              <p:spPr>
                <a:xfrm>
                  <a:off x="3082789" y="3753495"/>
                  <a:ext cx="1224246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400" dirty="0"/>
                    <a:t>Engine Torque</a:t>
                  </a:r>
                </a:p>
                <a:p>
                  <a:r>
                    <a:rPr lang="en-US" sz="1400" dirty="0"/>
                    <a:t>{Dyno Test}</a:t>
                  </a:r>
                </a:p>
              </p:txBody>
            </p:sp>
            <p:cxnSp>
              <p:nvCxnSpPr>
                <p:cNvPr id="33" name="Straight Arrow Connector 32"/>
                <p:cNvCxnSpPr/>
                <p:nvPr/>
              </p:nvCxnSpPr>
              <p:spPr>
                <a:xfrm>
                  <a:off x="3274551" y="4363095"/>
                  <a:ext cx="892430" cy="0"/>
                </a:xfrm>
                <a:prstGeom prst="straightConnector1">
                  <a:avLst/>
                </a:prstGeom>
                <a:ln w="38100">
                  <a:solidFill>
                    <a:schemeClr val="tx1"/>
                  </a:solidFill>
                  <a:headEnd type="arrow"/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6" name="Group 35"/>
              <p:cNvGrpSpPr/>
              <p:nvPr/>
            </p:nvGrpSpPr>
            <p:grpSpPr>
              <a:xfrm>
                <a:off x="3076801" y="2271489"/>
                <a:ext cx="1192514" cy="395511"/>
                <a:chOff x="3076801" y="2271489"/>
                <a:chExt cx="1192514" cy="395511"/>
              </a:xfrm>
            </p:grpSpPr>
            <p:sp>
              <p:nvSpPr>
                <p:cNvPr id="20" name="TextBox 19"/>
                <p:cNvSpPr txBox="1"/>
                <p:nvPr/>
              </p:nvSpPr>
              <p:spPr>
                <a:xfrm>
                  <a:off x="3130670" y="2271489"/>
                  <a:ext cx="1138645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/>
                    <a:t>Zero to 60</a:t>
                  </a:r>
                </a:p>
              </p:txBody>
            </p:sp>
            <p:cxnSp>
              <p:nvCxnSpPr>
                <p:cNvPr id="35" name="Straight Arrow Connector 34"/>
                <p:cNvCxnSpPr/>
                <p:nvPr/>
              </p:nvCxnSpPr>
              <p:spPr>
                <a:xfrm>
                  <a:off x="3076801" y="2667000"/>
                  <a:ext cx="1181954" cy="0"/>
                </a:xfrm>
                <a:prstGeom prst="straightConnector1">
                  <a:avLst/>
                </a:prstGeom>
                <a:ln w="50800">
                  <a:solidFill>
                    <a:schemeClr val="tx1"/>
                  </a:solidFill>
                  <a:headEnd type="arrow"/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42" name="Group 41"/>
            <p:cNvGrpSpPr/>
            <p:nvPr/>
          </p:nvGrpSpPr>
          <p:grpSpPr>
            <a:xfrm>
              <a:off x="762000" y="2590800"/>
              <a:ext cx="1676400" cy="2875119"/>
              <a:chOff x="762000" y="2590800"/>
              <a:chExt cx="1676400" cy="2875119"/>
            </a:xfrm>
          </p:grpSpPr>
          <p:cxnSp>
            <p:nvCxnSpPr>
              <p:cNvPr id="40" name="Straight Arrow Connector 39"/>
              <p:cNvCxnSpPr/>
              <p:nvPr/>
            </p:nvCxnSpPr>
            <p:spPr>
              <a:xfrm>
                <a:off x="762000" y="2590800"/>
                <a:ext cx="1676400" cy="2875119"/>
              </a:xfrm>
              <a:prstGeom prst="straightConnector1">
                <a:avLst/>
              </a:prstGeom>
              <a:ln w="63500">
                <a:solidFill>
                  <a:srgbClr val="0070C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1" name="TextBox 40"/>
              <p:cNvSpPr txBox="1"/>
              <p:nvPr/>
            </p:nvSpPr>
            <p:spPr>
              <a:xfrm rot="3578333">
                <a:off x="529380" y="3930850"/>
                <a:ext cx="158511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0070C0"/>
                    </a:solidFill>
                  </a:rPr>
                  <a:t>Target Cascade</a:t>
                </a:r>
              </a:p>
            </p:txBody>
          </p:sp>
        </p:grpSp>
        <p:grpSp>
          <p:nvGrpSpPr>
            <p:cNvPr id="46" name="Group 45"/>
            <p:cNvGrpSpPr/>
            <p:nvPr/>
          </p:nvGrpSpPr>
          <p:grpSpPr>
            <a:xfrm>
              <a:off x="6170676" y="2368170"/>
              <a:ext cx="813200" cy="2875119"/>
              <a:chOff x="6170676" y="2368170"/>
              <a:chExt cx="813200" cy="2875119"/>
            </a:xfrm>
          </p:grpSpPr>
          <p:cxnSp>
            <p:nvCxnSpPr>
              <p:cNvPr id="44" name="Straight Arrow Connector 43"/>
              <p:cNvCxnSpPr/>
              <p:nvPr/>
            </p:nvCxnSpPr>
            <p:spPr>
              <a:xfrm flipV="1">
                <a:off x="6170676" y="2368170"/>
                <a:ext cx="457200" cy="2875119"/>
              </a:xfrm>
              <a:prstGeom prst="straightConnector1">
                <a:avLst/>
              </a:prstGeom>
              <a:ln w="63500">
                <a:solidFill>
                  <a:srgbClr val="00B05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5" name="TextBox 44"/>
              <p:cNvSpPr txBox="1"/>
              <p:nvPr/>
            </p:nvSpPr>
            <p:spPr>
              <a:xfrm rot="16756742">
                <a:off x="5855554" y="3873001"/>
                <a:ext cx="188731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00B050"/>
                    </a:solidFill>
                  </a:rPr>
                  <a:t>Target Verification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2763876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Design Direction and Prototypes</a:t>
            </a:r>
          </a:p>
        </p:txBody>
      </p:sp>
      <p:grpSp>
        <p:nvGrpSpPr>
          <p:cNvPr id="21" name="Group 20"/>
          <p:cNvGrpSpPr/>
          <p:nvPr/>
        </p:nvGrpSpPr>
        <p:grpSpPr>
          <a:xfrm>
            <a:off x="381000" y="762000"/>
            <a:ext cx="8407887" cy="471792"/>
            <a:chOff x="381000" y="1295400"/>
            <a:chExt cx="8407887" cy="471792"/>
          </a:xfrm>
        </p:grpSpPr>
        <p:sp>
          <p:nvSpPr>
            <p:cNvPr id="3" name="Diamond 2"/>
            <p:cNvSpPr/>
            <p:nvPr/>
          </p:nvSpPr>
          <p:spPr>
            <a:xfrm>
              <a:off x="381000" y="1306749"/>
              <a:ext cx="457200" cy="457200"/>
            </a:xfrm>
            <a:prstGeom prst="diamond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000" dirty="0"/>
                <a:t>PS</a:t>
              </a:r>
            </a:p>
          </p:txBody>
        </p:sp>
        <p:sp>
          <p:nvSpPr>
            <p:cNvPr id="6" name="Diamond 5"/>
            <p:cNvSpPr/>
            <p:nvPr/>
          </p:nvSpPr>
          <p:spPr>
            <a:xfrm>
              <a:off x="8331687" y="1295400"/>
              <a:ext cx="457200" cy="457200"/>
            </a:xfrm>
            <a:prstGeom prst="diamond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000" dirty="0"/>
                <a:t>J1</a:t>
              </a:r>
            </a:p>
          </p:txBody>
        </p:sp>
        <p:sp>
          <p:nvSpPr>
            <p:cNvPr id="7" name="Diamond 6"/>
            <p:cNvSpPr/>
            <p:nvPr/>
          </p:nvSpPr>
          <p:spPr>
            <a:xfrm>
              <a:off x="1066800" y="1295400"/>
              <a:ext cx="457200" cy="457200"/>
            </a:xfrm>
            <a:prstGeom prst="diamond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000" dirty="0"/>
                <a:t>PSC</a:t>
              </a:r>
            </a:p>
          </p:txBody>
        </p:sp>
        <p:sp>
          <p:nvSpPr>
            <p:cNvPr id="8" name="Diamond 7"/>
            <p:cNvSpPr/>
            <p:nvPr/>
          </p:nvSpPr>
          <p:spPr>
            <a:xfrm>
              <a:off x="1981200" y="1295400"/>
              <a:ext cx="457200" cy="457200"/>
            </a:xfrm>
            <a:prstGeom prst="diamond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000" dirty="0"/>
                <a:t>PTC</a:t>
              </a:r>
            </a:p>
          </p:txBody>
        </p:sp>
        <p:sp>
          <p:nvSpPr>
            <p:cNvPr id="9" name="Diamond 8"/>
            <p:cNvSpPr/>
            <p:nvPr/>
          </p:nvSpPr>
          <p:spPr>
            <a:xfrm>
              <a:off x="4191000" y="1309992"/>
              <a:ext cx="457200" cy="457200"/>
            </a:xfrm>
            <a:prstGeom prst="diamond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000" dirty="0"/>
                <a:t>FDJ</a:t>
              </a:r>
            </a:p>
          </p:txBody>
        </p:sp>
        <p:sp>
          <p:nvSpPr>
            <p:cNvPr id="10" name="Diamond 9"/>
            <p:cNvSpPr/>
            <p:nvPr/>
          </p:nvSpPr>
          <p:spPr>
            <a:xfrm>
              <a:off x="3276600" y="1295400"/>
              <a:ext cx="457200" cy="457200"/>
            </a:xfrm>
            <a:prstGeom prst="diamond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000" dirty="0"/>
                <a:t>PA</a:t>
              </a:r>
            </a:p>
          </p:txBody>
        </p:sp>
        <p:sp>
          <p:nvSpPr>
            <p:cNvPr id="11" name="Diamond 10"/>
            <p:cNvSpPr/>
            <p:nvPr/>
          </p:nvSpPr>
          <p:spPr>
            <a:xfrm>
              <a:off x="5334000" y="1295400"/>
              <a:ext cx="457200" cy="457200"/>
            </a:xfrm>
            <a:prstGeom prst="diamond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000" dirty="0"/>
                <a:t>CP</a:t>
              </a:r>
            </a:p>
          </p:txBody>
        </p:sp>
        <p:sp>
          <p:nvSpPr>
            <p:cNvPr id="12" name="Diamond 11"/>
            <p:cNvSpPr/>
            <p:nvPr/>
          </p:nvSpPr>
          <p:spPr>
            <a:xfrm>
              <a:off x="6096000" y="1295400"/>
              <a:ext cx="457200" cy="457200"/>
            </a:xfrm>
            <a:prstGeom prst="diamond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000" dirty="0"/>
                <a:t>LR</a:t>
              </a:r>
            </a:p>
          </p:txBody>
        </p:sp>
        <p:sp>
          <p:nvSpPr>
            <p:cNvPr id="13" name="Diamond 12"/>
            <p:cNvSpPr/>
            <p:nvPr/>
          </p:nvSpPr>
          <p:spPr>
            <a:xfrm>
              <a:off x="7086600" y="1295400"/>
              <a:ext cx="457200" cy="457200"/>
            </a:xfrm>
            <a:prstGeom prst="diamond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000" dirty="0"/>
                <a:t>LS</a:t>
              </a:r>
            </a:p>
          </p:txBody>
        </p:sp>
      </p:grpSp>
      <p:grpSp>
        <p:nvGrpSpPr>
          <p:cNvPr id="19" name="Group 18"/>
          <p:cNvGrpSpPr/>
          <p:nvPr/>
        </p:nvGrpSpPr>
        <p:grpSpPr>
          <a:xfrm>
            <a:off x="546799" y="3276600"/>
            <a:ext cx="6125183" cy="1371600"/>
            <a:chOff x="580417" y="2209800"/>
            <a:chExt cx="6125183" cy="1371600"/>
          </a:xfrm>
        </p:grpSpPr>
        <p:sp>
          <p:nvSpPr>
            <p:cNvPr id="18" name="Rectangle 17"/>
            <p:cNvSpPr/>
            <p:nvPr/>
          </p:nvSpPr>
          <p:spPr>
            <a:xfrm>
              <a:off x="3048000" y="2758440"/>
              <a:ext cx="3657600" cy="274320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n-US" dirty="0"/>
                <a:t>Design Alternatives</a:t>
              </a:r>
            </a:p>
          </p:txBody>
        </p:sp>
        <p:sp>
          <p:nvSpPr>
            <p:cNvPr id="14" name="Trapezoid 13"/>
            <p:cNvSpPr/>
            <p:nvPr/>
          </p:nvSpPr>
          <p:spPr>
            <a:xfrm rot="5400000">
              <a:off x="1151917" y="1638300"/>
              <a:ext cx="1371600" cy="2514600"/>
            </a:xfrm>
            <a:prstGeom prst="trapezoid">
              <a:avLst>
                <a:gd name="adj" fmla="val 39993"/>
              </a:avLst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2" name="Right Arrow 21"/>
          <p:cNvSpPr/>
          <p:nvPr/>
        </p:nvSpPr>
        <p:spPr>
          <a:xfrm>
            <a:off x="3965760" y="5934075"/>
            <a:ext cx="1485900" cy="609600"/>
          </a:xfrm>
          <a:prstGeom prst="rightArrow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CP Prototype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2596906" y="5486400"/>
            <a:ext cx="1485900" cy="609600"/>
          </a:xfrm>
          <a:prstGeom prst="rightArrow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dirty="0">
                <a:solidFill>
                  <a:srgbClr val="00B0F0"/>
                </a:solidFill>
              </a:rPr>
              <a:t>M1 Prototype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589932" y="5029200"/>
            <a:ext cx="952500" cy="609600"/>
          </a:xfrm>
          <a:prstGeom prst="rightArrow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dirty="0">
                <a:solidFill>
                  <a:srgbClr val="00B050"/>
                </a:solidFill>
              </a:rPr>
              <a:t>Mule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74424" y="5041758"/>
            <a:ext cx="12062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u="sng" dirty="0"/>
              <a:t>Prototypes</a:t>
            </a:r>
          </a:p>
        </p:txBody>
      </p:sp>
      <p:cxnSp>
        <p:nvCxnSpPr>
          <p:cNvPr id="29" name="Straight Connector 28"/>
          <p:cNvCxnSpPr/>
          <p:nvPr/>
        </p:nvCxnSpPr>
        <p:spPr>
          <a:xfrm>
            <a:off x="444256" y="4876800"/>
            <a:ext cx="8407887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Straight Connector 32"/>
          <p:cNvCxnSpPr/>
          <p:nvPr/>
        </p:nvCxnSpPr>
        <p:spPr>
          <a:xfrm>
            <a:off x="504767" y="2895600"/>
            <a:ext cx="8407887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546799" y="1600200"/>
            <a:ext cx="1640542" cy="997323"/>
          </a:xfrm>
          <a:custGeom>
            <a:avLst/>
            <a:gdLst>
              <a:gd name="connsiteX0" fmla="*/ 0 w 1257300"/>
              <a:gd name="connsiteY0" fmla="*/ 0 h 990600"/>
              <a:gd name="connsiteX1" fmla="*/ 1257300 w 1257300"/>
              <a:gd name="connsiteY1" fmla="*/ 0 h 990600"/>
              <a:gd name="connsiteX2" fmla="*/ 1257300 w 1257300"/>
              <a:gd name="connsiteY2" fmla="*/ 990600 h 990600"/>
              <a:gd name="connsiteX3" fmla="*/ 0 w 1257300"/>
              <a:gd name="connsiteY3" fmla="*/ 990600 h 990600"/>
              <a:gd name="connsiteX4" fmla="*/ 0 w 1257300"/>
              <a:gd name="connsiteY4" fmla="*/ 0 h 990600"/>
              <a:gd name="connsiteX0" fmla="*/ 0 w 1640542"/>
              <a:gd name="connsiteY0" fmla="*/ 0 h 997323"/>
              <a:gd name="connsiteX1" fmla="*/ 1257300 w 1640542"/>
              <a:gd name="connsiteY1" fmla="*/ 0 h 997323"/>
              <a:gd name="connsiteX2" fmla="*/ 1640542 w 1640542"/>
              <a:gd name="connsiteY2" fmla="*/ 997323 h 997323"/>
              <a:gd name="connsiteX3" fmla="*/ 0 w 1640542"/>
              <a:gd name="connsiteY3" fmla="*/ 990600 h 997323"/>
              <a:gd name="connsiteX4" fmla="*/ 0 w 1640542"/>
              <a:gd name="connsiteY4" fmla="*/ 0 h 9973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40542" h="997323">
                <a:moveTo>
                  <a:pt x="0" y="0"/>
                </a:moveTo>
                <a:lnTo>
                  <a:pt x="1257300" y="0"/>
                </a:lnTo>
                <a:lnTo>
                  <a:pt x="1640542" y="997323"/>
                </a:lnTo>
                <a:lnTo>
                  <a:pt x="0" y="990600"/>
                </a:lnTo>
                <a:lnTo>
                  <a:pt x="0" y="0"/>
                </a:lnTo>
                <a:close/>
              </a:path>
            </a:pathLst>
          </a:custGeom>
          <a:solidFill>
            <a:srgbClr val="0099FF"/>
          </a:solidFill>
          <a:ln>
            <a:solidFill>
              <a:srgbClr val="0070C0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Target Cascade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804099" y="1604682"/>
            <a:ext cx="3193026" cy="1010770"/>
          </a:xfrm>
          <a:custGeom>
            <a:avLst/>
            <a:gdLst>
              <a:gd name="connsiteX0" fmla="*/ 0 w 2971800"/>
              <a:gd name="connsiteY0" fmla="*/ 0 h 990600"/>
              <a:gd name="connsiteX1" fmla="*/ 2971800 w 2971800"/>
              <a:gd name="connsiteY1" fmla="*/ 0 h 990600"/>
              <a:gd name="connsiteX2" fmla="*/ 2971800 w 2971800"/>
              <a:gd name="connsiteY2" fmla="*/ 990600 h 990600"/>
              <a:gd name="connsiteX3" fmla="*/ 0 w 2971800"/>
              <a:gd name="connsiteY3" fmla="*/ 990600 h 990600"/>
              <a:gd name="connsiteX4" fmla="*/ 0 w 2971800"/>
              <a:gd name="connsiteY4" fmla="*/ 0 h 990600"/>
              <a:gd name="connsiteX0" fmla="*/ 0 w 2971800"/>
              <a:gd name="connsiteY0" fmla="*/ 0 h 1010770"/>
              <a:gd name="connsiteX1" fmla="*/ 2971800 w 2971800"/>
              <a:gd name="connsiteY1" fmla="*/ 0 h 1010770"/>
              <a:gd name="connsiteX2" fmla="*/ 2971800 w 2971800"/>
              <a:gd name="connsiteY2" fmla="*/ 990600 h 1010770"/>
              <a:gd name="connsiteX3" fmla="*/ 403412 w 2971800"/>
              <a:gd name="connsiteY3" fmla="*/ 1010770 h 1010770"/>
              <a:gd name="connsiteX4" fmla="*/ 0 w 2971800"/>
              <a:gd name="connsiteY4" fmla="*/ 0 h 1010770"/>
              <a:gd name="connsiteX0" fmla="*/ 0 w 2971800"/>
              <a:gd name="connsiteY0" fmla="*/ 0 h 1010770"/>
              <a:gd name="connsiteX1" fmla="*/ 2474259 w 2971800"/>
              <a:gd name="connsiteY1" fmla="*/ 6724 h 1010770"/>
              <a:gd name="connsiteX2" fmla="*/ 2971800 w 2971800"/>
              <a:gd name="connsiteY2" fmla="*/ 990600 h 1010770"/>
              <a:gd name="connsiteX3" fmla="*/ 403412 w 2971800"/>
              <a:gd name="connsiteY3" fmla="*/ 1010770 h 1010770"/>
              <a:gd name="connsiteX4" fmla="*/ 0 w 2971800"/>
              <a:gd name="connsiteY4" fmla="*/ 0 h 1010770"/>
              <a:gd name="connsiteX0" fmla="*/ 0 w 2971800"/>
              <a:gd name="connsiteY0" fmla="*/ 0 h 1010770"/>
              <a:gd name="connsiteX1" fmla="*/ 2474259 w 2971800"/>
              <a:gd name="connsiteY1" fmla="*/ 6724 h 1010770"/>
              <a:gd name="connsiteX2" fmla="*/ 2971800 w 2971800"/>
              <a:gd name="connsiteY2" fmla="*/ 990600 h 1010770"/>
              <a:gd name="connsiteX3" fmla="*/ 405418 w 2971800"/>
              <a:gd name="connsiteY3" fmla="*/ 995749 h 1010770"/>
              <a:gd name="connsiteX4" fmla="*/ 403412 w 2971800"/>
              <a:gd name="connsiteY4" fmla="*/ 1010770 h 1010770"/>
              <a:gd name="connsiteX5" fmla="*/ 0 w 2971800"/>
              <a:gd name="connsiteY5" fmla="*/ 0 h 1010770"/>
              <a:gd name="connsiteX0" fmla="*/ 0 w 2971800"/>
              <a:gd name="connsiteY0" fmla="*/ 0 h 1010770"/>
              <a:gd name="connsiteX1" fmla="*/ 2474259 w 2971800"/>
              <a:gd name="connsiteY1" fmla="*/ 6724 h 1010770"/>
              <a:gd name="connsiteX2" fmla="*/ 2971800 w 2971800"/>
              <a:gd name="connsiteY2" fmla="*/ 990600 h 1010770"/>
              <a:gd name="connsiteX3" fmla="*/ 400655 w 2971800"/>
              <a:gd name="connsiteY3" fmla="*/ 995749 h 1010770"/>
              <a:gd name="connsiteX4" fmla="*/ 403412 w 2971800"/>
              <a:gd name="connsiteY4" fmla="*/ 1010770 h 1010770"/>
              <a:gd name="connsiteX5" fmla="*/ 0 w 2971800"/>
              <a:gd name="connsiteY5" fmla="*/ 0 h 1010770"/>
              <a:gd name="connsiteX0" fmla="*/ 0 w 3193026"/>
              <a:gd name="connsiteY0" fmla="*/ 0 h 1010770"/>
              <a:gd name="connsiteX1" fmla="*/ 2474259 w 3193026"/>
              <a:gd name="connsiteY1" fmla="*/ 6724 h 1010770"/>
              <a:gd name="connsiteX2" fmla="*/ 3193026 w 3193026"/>
              <a:gd name="connsiteY2" fmla="*/ 993058 h 1010770"/>
              <a:gd name="connsiteX3" fmla="*/ 400655 w 3193026"/>
              <a:gd name="connsiteY3" fmla="*/ 995749 h 1010770"/>
              <a:gd name="connsiteX4" fmla="*/ 403412 w 3193026"/>
              <a:gd name="connsiteY4" fmla="*/ 1010770 h 1010770"/>
              <a:gd name="connsiteX5" fmla="*/ 0 w 3193026"/>
              <a:gd name="connsiteY5" fmla="*/ 0 h 1010770"/>
              <a:gd name="connsiteX0" fmla="*/ 0 w 3193026"/>
              <a:gd name="connsiteY0" fmla="*/ 0 h 1010770"/>
              <a:gd name="connsiteX1" fmla="*/ 2481634 w 3193026"/>
              <a:gd name="connsiteY1" fmla="*/ 6724 h 1010770"/>
              <a:gd name="connsiteX2" fmla="*/ 3193026 w 3193026"/>
              <a:gd name="connsiteY2" fmla="*/ 993058 h 1010770"/>
              <a:gd name="connsiteX3" fmla="*/ 400655 w 3193026"/>
              <a:gd name="connsiteY3" fmla="*/ 995749 h 1010770"/>
              <a:gd name="connsiteX4" fmla="*/ 403412 w 3193026"/>
              <a:gd name="connsiteY4" fmla="*/ 1010770 h 1010770"/>
              <a:gd name="connsiteX5" fmla="*/ 0 w 3193026"/>
              <a:gd name="connsiteY5" fmla="*/ 0 h 10107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193026" h="1010770">
                <a:moveTo>
                  <a:pt x="0" y="0"/>
                </a:moveTo>
                <a:lnTo>
                  <a:pt x="2481634" y="6724"/>
                </a:lnTo>
                <a:lnTo>
                  <a:pt x="3193026" y="993058"/>
                </a:lnTo>
                <a:lnTo>
                  <a:pt x="400655" y="995749"/>
                </a:lnTo>
                <a:lnTo>
                  <a:pt x="403412" y="1010770"/>
                </a:lnTo>
                <a:lnTo>
                  <a:pt x="0" y="0"/>
                </a:lnTo>
                <a:close/>
              </a:path>
            </a:pathLst>
          </a:custGeom>
          <a:solidFill>
            <a:srgbClr val="6666FF"/>
          </a:solidFill>
          <a:ln>
            <a:solidFill>
              <a:srgbClr val="0070C0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Design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267200" y="1603561"/>
            <a:ext cx="2057400" cy="990600"/>
          </a:xfrm>
          <a:custGeom>
            <a:avLst/>
            <a:gdLst>
              <a:gd name="connsiteX0" fmla="*/ 0 w 901001"/>
              <a:gd name="connsiteY0" fmla="*/ 0 h 990600"/>
              <a:gd name="connsiteX1" fmla="*/ 901001 w 901001"/>
              <a:gd name="connsiteY1" fmla="*/ 0 h 990600"/>
              <a:gd name="connsiteX2" fmla="*/ 901001 w 901001"/>
              <a:gd name="connsiteY2" fmla="*/ 990600 h 990600"/>
              <a:gd name="connsiteX3" fmla="*/ 0 w 901001"/>
              <a:gd name="connsiteY3" fmla="*/ 990600 h 990600"/>
              <a:gd name="connsiteX4" fmla="*/ 0 w 901001"/>
              <a:gd name="connsiteY4" fmla="*/ 0 h 990600"/>
              <a:gd name="connsiteX0" fmla="*/ 0 w 1391818"/>
              <a:gd name="connsiteY0" fmla="*/ 13447 h 990600"/>
              <a:gd name="connsiteX1" fmla="*/ 1391818 w 1391818"/>
              <a:gd name="connsiteY1" fmla="*/ 0 h 990600"/>
              <a:gd name="connsiteX2" fmla="*/ 1391818 w 1391818"/>
              <a:gd name="connsiteY2" fmla="*/ 990600 h 990600"/>
              <a:gd name="connsiteX3" fmla="*/ 490817 w 1391818"/>
              <a:gd name="connsiteY3" fmla="*/ 990600 h 990600"/>
              <a:gd name="connsiteX4" fmla="*/ 0 w 1391818"/>
              <a:gd name="connsiteY4" fmla="*/ 13447 h 990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91818" h="990600">
                <a:moveTo>
                  <a:pt x="0" y="13447"/>
                </a:moveTo>
                <a:lnTo>
                  <a:pt x="1391818" y="0"/>
                </a:lnTo>
                <a:lnTo>
                  <a:pt x="1391818" y="990600"/>
                </a:lnTo>
                <a:lnTo>
                  <a:pt x="490817" y="990600"/>
                </a:lnTo>
                <a:lnTo>
                  <a:pt x="0" y="13447"/>
                </a:lnTo>
                <a:close/>
              </a:path>
            </a:pathLst>
          </a:custGeom>
          <a:solidFill>
            <a:srgbClr val="6600CC"/>
          </a:solidFill>
          <a:ln>
            <a:solidFill>
              <a:srgbClr val="0070C0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Verify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324600" y="1600200"/>
            <a:ext cx="2588054" cy="993961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Production</a:t>
            </a:r>
          </a:p>
          <a:p>
            <a:pPr algn="ctr"/>
            <a:r>
              <a:rPr lang="en-US" dirty="0"/>
              <a:t>Prove Out</a:t>
            </a:r>
          </a:p>
        </p:txBody>
      </p:sp>
    </p:spTree>
    <p:extLst>
      <p:ext uri="{BB962C8B-B14F-4D97-AF65-F5344CB8AC3E}">
        <p14:creationId xmlns:p14="http://schemas.microsoft.com/office/powerpoint/2010/main" val="12482785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Product Direction Letter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47800"/>
            <a:ext cx="8229600" cy="48768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/>
              <a:t>A description of the vehicle product developed by the pre-program team. Should have a set of </a:t>
            </a:r>
            <a:r>
              <a:rPr lang="en-US" sz="2000" u="sng" dirty="0"/>
              <a:t>aligned</a:t>
            </a:r>
            <a:r>
              <a:rPr lang="en-US" sz="2000" dirty="0"/>
              <a:t> targets.</a:t>
            </a:r>
          </a:p>
          <a:p>
            <a:r>
              <a:rPr lang="en-US" sz="2000" dirty="0"/>
              <a:t>Issued at &lt;PS&gt;</a:t>
            </a:r>
          </a:p>
          <a:p>
            <a:r>
              <a:rPr lang="en-US" sz="2000" dirty="0"/>
              <a:t>Contains;</a:t>
            </a:r>
          </a:p>
          <a:p>
            <a:pPr lvl="1"/>
            <a:r>
              <a:rPr lang="en-US" sz="1600" dirty="0"/>
              <a:t>Target customers</a:t>
            </a:r>
          </a:p>
          <a:p>
            <a:pPr lvl="1"/>
            <a:r>
              <a:rPr lang="en-US" sz="1600" dirty="0"/>
              <a:t>Product Attribute placement (NVH, vehicle dynamics, safety, fuel economy, package, styling, </a:t>
            </a:r>
            <a:r>
              <a:rPr lang="en-US" sz="1600" dirty="0" err="1"/>
              <a:t>etc</a:t>
            </a:r>
            <a:r>
              <a:rPr lang="en-US" sz="1600" dirty="0"/>
              <a:t>)</a:t>
            </a:r>
          </a:p>
          <a:p>
            <a:pPr lvl="1"/>
            <a:r>
              <a:rPr lang="en-US" sz="1600" dirty="0"/>
              <a:t>Concept Drawings</a:t>
            </a:r>
          </a:p>
          <a:p>
            <a:pPr lvl="1"/>
            <a:r>
              <a:rPr lang="en-US" sz="1600" dirty="0"/>
              <a:t>Overall size, weight, Cost</a:t>
            </a:r>
          </a:p>
          <a:p>
            <a:pPr lvl="1"/>
            <a:r>
              <a:rPr lang="en-US" sz="1600" dirty="0"/>
              <a:t>Variations (base vehicle, luxury version, performance versions)</a:t>
            </a:r>
          </a:p>
          <a:p>
            <a:pPr lvl="1"/>
            <a:r>
              <a:rPr lang="en-US" sz="1600" dirty="0"/>
              <a:t>Countries sold</a:t>
            </a:r>
          </a:p>
          <a:p>
            <a:pPr lvl="1"/>
            <a:r>
              <a:rPr lang="en-US" sz="1600" dirty="0"/>
              <a:t>Plants to manufacture</a:t>
            </a:r>
          </a:p>
          <a:p>
            <a:pPr lvl="1"/>
            <a:r>
              <a:rPr lang="en-US" sz="1600" dirty="0"/>
              <a:t>Volume manufactured in future years</a:t>
            </a:r>
          </a:p>
          <a:p>
            <a:pPr lvl="1"/>
            <a:r>
              <a:rPr lang="en-US" sz="1600" dirty="0"/>
              <a:t>Future vehicles to be developed off of this design</a:t>
            </a: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762000"/>
            <a:ext cx="7693024" cy="5921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Rectangle 4"/>
          <p:cNvSpPr/>
          <p:nvPr/>
        </p:nvSpPr>
        <p:spPr>
          <a:xfrm>
            <a:off x="288073" y="829468"/>
            <a:ext cx="914400" cy="457200"/>
          </a:xfrm>
          <a:prstGeom prst="rect">
            <a:avLst/>
          </a:prstGeom>
          <a:solidFill>
            <a:srgbClr val="FF0000"/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/>
              <a:t>Pre-Program</a:t>
            </a:r>
          </a:p>
        </p:txBody>
      </p:sp>
    </p:spTree>
    <p:extLst>
      <p:ext uri="{BB962C8B-B14F-4D97-AF65-F5344CB8AC3E}">
        <p14:creationId xmlns:p14="http://schemas.microsoft.com/office/powerpoint/2010/main" val="31843300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FIRST Robotics Product Direction Letter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38200"/>
            <a:ext cx="8229600" cy="5486400"/>
          </a:xfrm>
        </p:spPr>
        <p:txBody>
          <a:bodyPr>
            <a:normAutofit fontScale="85000" lnSpcReduction="20000"/>
          </a:bodyPr>
          <a:lstStyle/>
          <a:p>
            <a:r>
              <a:rPr lang="en-US" sz="2000" dirty="0"/>
              <a:t>What strategy will the team take to succeed</a:t>
            </a:r>
          </a:p>
          <a:p>
            <a:pPr lvl="1"/>
            <a:r>
              <a:rPr lang="en-US" sz="1600" dirty="0"/>
              <a:t>What is the maximum score possible (</a:t>
            </a:r>
            <a:r>
              <a:rPr lang="en-US" sz="1600" dirty="0" err="1"/>
              <a:t>SC</a:t>
            </a:r>
            <a:r>
              <a:rPr lang="en-US" sz="1600" baseline="-25000" dirty="0" err="1"/>
              <a:t>max</a:t>
            </a:r>
            <a:r>
              <a:rPr lang="en-US" sz="1600" dirty="0"/>
              <a:t>).</a:t>
            </a:r>
          </a:p>
          <a:p>
            <a:pPr lvl="1"/>
            <a:r>
              <a:rPr lang="en-US" sz="1600" dirty="0"/>
              <a:t>What should our robot be able to score to be successful (</a:t>
            </a:r>
            <a:r>
              <a:rPr lang="en-US" sz="1600" dirty="0" err="1"/>
              <a:t>SC</a:t>
            </a:r>
            <a:r>
              <a:rPr lang="en-US" sz="1600" baseline="-25000" dirty="0" err="1"/>
              <a:t>wc</a:t>
            </a:r>
            <a:r>
              <a:rPr lang="en-US" sz="1600" dirty="0"/>
              <a:t>).</a:t>
            </a:r>
          </a:p>
          <a:p>
            <a:pPr lvl="1"/>
            <a:r>
              <a:rPr lang="en-US" sz="1600" dirty="0"/>
              <a:t>What scoring methods should we pursue to reach our robots score target </a:t>
            </a:r>
            <a:r>
              <a:rPr lang="en-US" sz="1600" dirty="0" err="1"/>
              <a:t>SC</a:t>
            </a:r>
            <a:r>
              <a:rPr lang="en-US" sz="1600" baseline="-25000" dirty="0" err="1"/>
              <a:t>wc</a:t>
            </a:r>
            <a:r>
              <a:rPr lang="en-US" sz="1600" dirty="0"/>
              <a:t>=</a:t>
            </a:r>
            <a:r>
              <a:rPr lang="en-US" sz="1600" dirty="0" err="1"/>
              <a:t>SC</a:t>
            </a:r>
            <a:r>
              <a:rPr lang="en-US" sz="1600" baseline="-25000" dirty="0" err="1"/>
              <a:t>c</a:t>
            </a:r>
            <a:r>
              <a:rPr lang="en-US" sz="1600" dirty="0" err="1"/>
              <a:t>+SC</a:t>
            </a:r>
            <a:r>
              <a:rPr lang="en-US" sz="1600" baseline="-25000" dirty="0" err="1"/>
              <a:t>an</a:t>
            </a:r>
            <a:r>
              <a:rPr lang="en-US" sz="1600" dirty="0" err="1"/>
              <a:t>+SC</a:t>
            </a:r>
            <a:r>
              <a:rPr lang="en-US" sz="1600" baseline="-25000" dirty="0" err="1"/>
              <a:t>ag</a:t>
            </a:r>
            <a:r>
              <a:rPr lang="en-US" sz="1600" dirty="0" err="1"/>
              <a:t>+SC</a:t>
            </a:r>
            <a:r>
              <a:rPr lang="en-US" sz="1600" baseline="-25000" dirty="0" err="1"/>
              <a:t>ca</a:t>
            </a:r>
            <a:r>
              <a:rPr lang="en-US" sz="1600" dirty="0" err="1"/>
              <a:t>+SC</a:t>
            </a:r>
            <a:r>
              <a:rPr lang="en-US" sz="1600" baseline="-25000" dirty="0" err="1"/>
              <a:t>aa</a:t>
            </a:r>
            <a:endParaRPr lang="en-US" sz="1600" baseline="-25000" dirty="0"/>
          </a:p>
          <a:p>
            <a:pPr lvl="1"/>
            <a:r>
              <a:rPr lang="en-US" sz="1600" dirty="0"/>
              <a:t>What makes our robot perform well on a weak team</a:t>
            </a:r>
          </a:p>
          <a:p>
            <a:pPr lvl="1"/>
            <a:r>
              <a:rPr lang="en-US" sz="1600" dirty="0"/>
              <a:t>What make our robot perform well on a strong team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1600" dirty="0"/>
              <a:t>Coral Ground intake to minimize defense bots and travel time.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1600" dirty="0"/>
              <a:t>Fast to design, coral only bot that will allow program the most time to optimize reef scoring.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1800" dirty="0" err="1"/>
              <a:t>Eg</a:t>
            </a:r>
            <a:r>
              <a:rPr lang="en-US" sz="1800" dirty="0"/>
              <a:t>. Do everything Bot, Coral Scoring Machine, Defense Bot</a:t>
            </a:r>
          </a:p>
          <a:p>
            <a:endParaRPr lang="en-US" sz="2000" dirty="0"/>
          </a:p>
          <a:p>
            <a:r>
              <a:rPr lang="en-US" sz="2000" dirty="0"/>
              <a:t>Game requirements</a:t>
            </a:r>
          </a:p>
          <a:p>
            <a:pPr lvl="1"/>
            <a:r>
              <a:rPr lang="en-US" sz="1800" dirty="0"/>
              <a:t>Weight</a:t>
            </a:r>
          </a:p>
          <a:p>
            <a:pPr lvl="1"/>
            <a:r>
              <a:rPr lang="en-US" sz="1800" dirty="0"/>
              <a:t>Package </a:t>
            </a:r>
          </a:p>
          <a:p>
            <a:pPr lvl="1"/>
            <a:r>
              <a:rPr lang="en-US" sz="1800" dirty="0"/>
              <a:t>Number of motors</a:t>
            </a:r>
          </a:p>
          <a:p>
            <a:endParaRPr lang="en-US" sz="2000" dirty="0"/>
          </a:p>
          <a:p>
            <a:r>
              <a:rPr lang="en-US" sz="2000" dirty="0"/>
              <a:t>Schedule of features to implement (climber last)</a:t>
            </a:r>
          </a:p>
          <a:p>
            <a:r>
              <a:rPr lang="en-US" sz="2000" dirty="0"/>
              <a:t>Preliminary timing plan</a:t>
            </a:r>
          </a:p>
          <a:p>
            <a:endParaRPr lang="en-US" sz="2000" dirty="0"/>
          </a:p>
          <a:p>
            <a:r>
              <a:rPr lang="en-US" sz="2000" dirty="0"/>
              <a:t>Concepts to pursue</a:t>
            </a:r>
          </a:p>
          <a:p>
            <a:pPr lvl="1"/>
            <a:r>
              <a:rPr lang="en-US" sz="1800" dirty="0"/>
              <a:t>Boom type arm vs elevator</a:t>
            </a:r>
          </a:p>
          <a:p>
            <a:pPr lvl="2"/>
            <a:r>
              <a:rPr lang="en-US" sz="1400" dirty="0"/>
              <a:t>Chain drive, belt drive, string drive</a:t>
            </a:r>
          </a:p>
          <a:p>
            <a:pPr lvl="1"/>
            <a:r>
              <a:rPr lang="en-US" sz="1800" dirty="0"/>
              <a:t>Ground intake vs hopper</a:t>
            </a:r>
          </a:p>
          <a:p>
            <a:pPr lvl="1"/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6446805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be 4"/>
          <p:cNvSpPr/>
          <p:nvPr/>
        </p:nvSpPr>
        <p:spPr>
          <a:xfrm>
            <a:off x="4953000" y="3962400"/>
            <a:ext cx="3581400" cy="1066800"/>
          </a:xfrm>
          <a:prstGeom prst="cube">
            <a:avLst>
              <a:gd name="adj" fmla="val 71825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Chassis</a:t>
            </a:r>
          </a:p>
        </p:txBody>
      </p:sp>
      <p:sp>
        <p:nvSpPr>
          <p:cNvPr id="7" name="Cube 6"/>
          <p:cNvSpPr/>
          <p:nvPr/>
        </p:nvSpPr>
        <p:spPr>
          <a:xfrm>
            <a:off x="5486400" y="3276600"/>
            <a:ext cx="1981200" cy="1066800"/>
          </a:xfrm>
          <a:prstGeom prst="cube">
            <a:avLst>
              <a:gd name="adj" fmla="val 28968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dirty="0"/>
              <a:t>Hopper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FIRST Robotics Product Direction Letter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457200" y="914400"/>
            <a:ext cx="3733800" cy="54102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u="sng" dirty="0"/>
              <a:t>Component Preliminary Targets</a:t>
            </a:r>
          </a:p>
          <a:p>
            <a:r>
              <a:rPr lang="en-US" sz="2000" dirty="0"/>
              <a:t>Package Space</a:t>
            </a:r>
          </a:p>
          <a:p>
            <a:r>
              <a:rPr lang="en-US" sz="2000" dirty="0"/>
              <a:t>Number of motors</a:t>
            </a:r>
          </a:p>
          <a:p>
            <a:r>
              <a:rPr lang="en-US" sz="2000" dirty="0"/>
              <a:t>Weight</a:t>
            </a:r>
          </a:p>
          <a:p>
            <a:r>
              <a:rPr lang="en-US" sz="2000" dirty="0"/>
              <a:t>Attachment strategy</a:t>
            </a:r>
          </a:p>
          <a:p>
            <a:r>
              <a:rPr lang="en-US" sz="2000" dirty="0"/>
              <a:t>..</a:t>
            </a:r>
          </a:p>
        </p:txBody>
      </p:sp>
      <p:sp>
        <p:nvSpPr>
          <p:cNvPr id="6" name="Cube 5"/>
          <p:cNvSpPr/>
          <p:nvPr/>
        </p:nvSpPr>
        <p:spPr>
          <a:xfrm rot="16200000" flipV="1">
            <a:off x="5600700" y="2400300"/>
            <a:ext cx="3581400" cy="1066800"/>
          </a:xfrm>
          <a:prstGeom prst="cube">
            <a:avLst>
              <a:gd name="adj" fmla="val 71825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Elevator</a:t>
            </a:r>
          </a:p>
        </p:txBody>
      </p:sp>
      <p:sp>
        <p:nvSpPr>
          <p:cNvPr id="8" name="Cube 7"/>
          <p:cNvSpPr/>
          <p:nvPr/>
        </p:nvSpPr>
        <p:spPr>
          <a:xfrm>
            <a:off x="5676900" y="3962400"/>
            <a:ext cx="1066800" cy="762000"/>
          </a:xfrm>
          <a:prstGeom prst="cube">
            <a:avLst>
              <a:gd name="adj" fmla="val 20714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Climb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14201" y="1295400"/>
            <a:ext cx="154439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Preliminary </a:t>
            </a:r>
          </a:p>
          <a:p>
            <a:r>
              <a:rPr lang="en-US" dirty="0"/>
              <a:t>Package Space</a:t>
            </a:r>
          </a:p>
        </p:txBody>
      </p:sp>
    </p:spTree>
    <p:extLst>
      <p:ext uri="{BB962C8B-B14F-4D97-AF65-F5344CB8AC3E}">
        <p14:creationId xmlns:p14="http://schemas.microsoft.com/office/powerpoint/2010/main" val="13652530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Grayscale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oncours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4649</TotalTime>
  <Words>539</Words>
  <Application>Microsoft Office PowerPoint</Application>
  <PresentationFormat>On-screen Show (4:3)</PresentationFormat>
  <Paragraphs>158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Symbol</vt:lpstr>
      <vt:lpstr>Wingdings</vt:lpstr>
      <vt:lpstr>Office Theme</vt:lpstr>
      <vt:lpstr>Product Development </vt:lpstr>
      <vt:lpstr>Objectives {what do I want to tell you}</vt:lpstr>
      <vt:lpstr>Background</vt:lpstr>
      <vt:lpstr>Background: Ford Divisions</vt:lpstr>
      <vt:lpstr>Program Development Timing</vt:lpstr>
      <vt:lpstr>Target Cascade and Verification</vt:lpstr>
      <vt:lpstr>Design Direction and Prototypes</vt:lpstr>
      <vt:lpstr>Product Direction Letter</vt:lpstr>
      <vt:lpstr>FIRST Robotics Product Direction Letter</vt:lpstr>
      <vt:lpstr>FIRST Robotics Product Direction Letter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Product Development</dc:title>
  <dc:creator>Joe</dc:creator>
  <cp:lastModifiedBy>John Thibert</cp:lastModifiedBy>
  <cp:revision>28</cp:revision>
  <dcterms:created xsi:type="dcterms:W3CDTF">2025-05-01T13:33:38Z</dcterms:created>
  <dcterms:modified xsi:type="dcterms:W3CDTF">2025-05-08T23:27:59Z</dcterms:modified>
</cp:coreProperties>
</file>